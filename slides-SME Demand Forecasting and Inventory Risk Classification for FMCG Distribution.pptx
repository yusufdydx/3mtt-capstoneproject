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73" r:id="rId14"/>
    <p:sldId id="274" r:id="rId15"/>
    <p:sldId id="275" r:id="rId16"/>
  </p:sldIdLst>
  <p:sldSz cx="12192000" cy="6858000"/>
  <p:notesSz cx="6858000" cy="12192000"/>
  <p:embeddedFontLst>
    <p:embeddedFont>
      <p:font typeface="Sora Light" panose="020B0604020202020204" charset="0"/>
      <p:regular r:id="rId18"/>
    </p:embeddedFont>
    <p:embeddedFont>
      <p:font typeface="Sora Semi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0592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31908" y="2184598"/>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Smarter Stock, Fewer Surprises</a:t>
            </a:r>
            <a:endParaRPr lang="en-US" sz="3700" dirty="0"/>
          </a:p>
        </p:txBody>
      </p:sp>
      <p:sp>
        <p:nvSpPr>
          <p:cNvPr id="3" name="Text 1"/>
          <p:cNvSpPr/>
          <p:nvPr/>
        </p:nvSpPr>
        <p:spPr>
          <a:xfrm>
            <a:off x="631908" y="3139579"/>
            <a:ext cx="11537463" cy="288925"/>
          </a:xfrm>
          <a:prstGeom prst="rect">
            <a:avLst/>
          </a:prstGeom>
          <a:noFill/>
          <a:ln/>
        </p:spPr>
        <p:txBody>
          <a:bodyPr wrap="none" lIns="0" tIns="0" rIns="0" bIns="0" rtlCol="0" anchor="t"/>
          <a:lstStyle/>
          <a:p>
            <a:pPr marL="0" indent="0" algn="l">
              <a:lnSpc>
                <a:spcPct val="133000"/>
              </a:lnSpc>
              <a:buNone/>
            </a:pPr>
            <a:r>
              <a:rPr lang="en-US" sz="1600" b="1" dirty="0">
                <a:solidFill>
                  <a:srgbClr val="3B3535"/>
                </a:solidFill>
                <a:latin typeface="Arial" panose="020B0604020202020204" pitchFamily="34" charset="0"/>
                <a:ea typeface="Sora Light" pitchFamily="34" charset="-122"/>
                <a:cs typeface="Arial" panose="020B0604020202020204" pitchFamily="34" charset="0"/>
              </a:rPr>
              <a:t>A Demand Forecasting and Inventory Tool Built for Your Business</a:t>
            </a:r>
            <a:endParaRPr lang="en-US" sz="1600" b="1" dirty="0">
              <a:latin typeface="Arial" panose="020B0604020202020204" pitchFamily="34" charset="0"/>
              <a:cs typeface="Arial" panose="020B0604020202020204" pitchFamily="34" charset="0"/>
            </a:endParaRPr>
          </a:p>
        </p:txBody>
      </p:sp>
      <p:sp>
        <p:nvSpPr>
          <p:cNvPr id="4" name="Shape 2"/>
          <p:cNvSpPr/>
          <p:nvPr/>
        </p:nvSpPr>
        <p:spPr>
          <a:xfrm>
            <a:off x="631908" y="3676650"/>
            <a:ext cx="10927878" cy="25400"/>
          </a:xfrm>
          <a:prstGeom prst="roundRect">
            <a:avLst>
              <a:gd name="adj" fmla="val 49999"/>
            </a:avLst>
          </a:prstGeom>
          <a:solidFill>
            <a:srgbClr val="3B3535">
              <a:alpha val="50000"/>
            </a:srgbClr>
          </a:solidFill>
          <a:ln/>
        </p:spPr>
        <p:txBody>
          <a:bodyPr/>
          <a:lstStyle/>
          <a:p>
            <a:endParaRPr lang="en-US"/>
          </a:p>
        </p:txBody>
      </p:sp>
      <p:sp>
        <p:nvSpPr>
          <p:cNvPr id="5" name="Text 3"/>
          <p:cNvSpPr/>
          <p:nvPr/>
        </p:nvSpPr>
        <p:spPr>
          <a:xfrm>
            <a:off x="631908" y="3950196"/>
            <a:ext cx="11537463" cy="288925"/>
          </a:xfrm>
          <a:prstGeom prst="rect">
            <a:avLst/>
          </a:prstGeom>
          <a:noFill/>
          <a:ln/>
        </p:spPr>
        <p:txBody>
          <a:bodyPr wrap="none" lIns="0" tIns="0" rIns="0" bIns="0" rtlCol="0" anchor="t"/>
          <a:lstStyle/>
          <a:p>
            <a:pPr marL="0" indent="0" algn="l">
              <a:lnSpc>
                <a:spcPct val="133000"/>
              </a:lnSpc>
              <a:buNone/>
            </a:pPr>
            <a:r>
              <a:rPr lang="en-US" b="1" dirty="0">
                <a:solidFill>
                  <a:srgbClr val="3B3535"/>
                </a:solidFill>
                <a:latin typeface="Arial" panose="020B0604020202020204" pitchFamily="34" charset="0"/>
                <a:ea typeface="Sora Light" pitchFamily="34" charset="-122"/>
                <a:cs typeface="Arial" panose="020B0604020202020204" pitchFamily="34" charset="0"/>
              </a:rPr>
              <a:t>Prepared for </a:t>
            </a:r>
            <a:r>
              <a:rPr lang="en-US" b="1" dirty="0" err="1">
                <a:solidFill>
                  <a:srgbClr val="3B3535"/>
                </a:solidFill>
                <a:latin typeface="Arial" panose="020B0604020202020204" pitchFamily="34" charset="0"/>
                <a:ea typeface="Sora Bold" pitchFamily="34" charset="-122"/>
                <a:cs typeface="Arial" panose="020B0604020202020204" pitchFamily="34" charset="0"/>
              </a:rPr>
              <a:t>Mr</a:t>
            </a:r>
            <a:r>
              <a:rPr lang="en-US" b="1" dirty="0">
                <a:solidFill>
                  <a:srgbClr val="3B3535"/>
                </a:solidFill>
                <a:latin typeface="Arial" panose="020B0604020202020204" pitchFamily="34" charset="0"/>
                <a:ea typeface="Sora Bold" pitchFamily="34" charset="-122"/>
                <a:cs typeface="Arial" panose="020B0604020202020204" pitchFamily="34" charset="0"/>
              </a:rPr>
              <a:t> Joseph</a:t>
            </a:r>
            <a:r>
              <a:rPr lang="en-US" b="1" dirty="0">
                <a:solidFill>
                  <a:srgbClr val="3B3535"/>
                </a:solidFill>
                <a:latin typeface="Arial" panose="020B0604020202020204" pitchFamily="34" charset="0"/>
                <a:ea typeface="Sora Light" pitchFamily="34" charset="-122"/>
                <a:cs typeface="Arial" panose="020B0604020202020204" pitchFamily="34" charset="0"/>
              </a:rPr>
              <a:t>, [</a:t>
            </a:r>
            <a:r>
              <a:rPr lang="en-US" sz="1400" b="1" dirty="0">
                <a:solidFill>
                  <a:srgbClr val="3B3535"/>
                </a:solidFill>
                <a:latin typeface="Arial" panose="020B0604020202020204" pitchFamily="34" charset="0"/>
                <a:ea typeface="Sora Light" pitchFamily="34" charset="-122"/>
                <a:cs typeface="Arial" panose="020B0604020202020204" pitchFamily="34" charset="0"/>
              </a:rPr>
              <a:t>SAMPLE CASE STUDY</a:t>
            </a:r>
            <a:r>
              <a:rPr lang="en-US" b="1" dirty="0">
                <a:solidFill>
                  <a:srgbClr val="3B3535"/>
                </a:solidFill>
                <a:latin typeface="Arial" panose="020B0604020202020204" pitchFamily="34" charset="0"/>
                <a:ea typeface="Sora Light" pitchFamily="34" charset="-122"/>
                <a:cs typeface="Arial" panose="020B0604020202020204" pitchFamily="34" charset="0"/>
              </a:rPr>
              <a:t>]</a:t>
            </a:r>
            <a:endParaRPr lang="en-US" b="1" dirty="0">
              <a:latin typeface="Arial" panose="020B0604020202020204" pitchFamily="34" charset="0"/>
              <a:cs typeface="Arial" panose="020B0604020202020204" pitchFamily="34" charset="0"/>
            </a:endParaRPr>
          </a:p>
        </p:txBody>
      </p:sp>
      <p:sp>
        <p:nvSpPr>
          <p:cNvPr id="6" name="Text 4"/>
          <p:cNvSpPr/>
          <p:nvPr/>
        </p:nvSpPr>
        <p:spPr>
          <a:xfrm>
            <a:off x="631908" y="4371727"/>
            <a:ext cx="11537463" cy="231080"/>
          </a:xfrm>
          <a:prstGeom prst="rect">
            <a:avLst/>
          </a:prstGeom>
          <a:noFill/>
          <a:ln/>
        </p:spPr>
        <p:txBody>
          <a:bodyPr wrap="none" lIns="0" tIns="0" rIns="0" bIns="0" rtlCol="0" anchor="t"/>
          <a:lstStyle/>
          <a:p>
            <a:pPr marL="0" indent="0" algn="l">
              <a:lnSpc>
                <a:spcPct val="133000"/>
              </a:lnSpc>
              <a:buNone/>
            </a:pPr>
            <a:r>
              <a:rPr lang="en-US" sz="2000" b="1" dirty="0">
                <a:solidFill>
                  <a:srgbClr val="3B3535"/>
                </a:solidFill>
                <a:latin typeface="Arial" panose="020B0604020202020204" pitchFamily="34" charset="0"/>
                <a:ea typeface="Sora Light" pitchFamily="34" charset="-122"/>
                <a:cs typeface="Arial" panose="020B0604020202020204" pitchFamily="34" charset="0"/>
              </a:rPr>
              <a:t>By Yusuf Abdullahi</a:t>
            </a:r>
            <a:endParaRPr lang="en-US" sz="2000"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1DA56612-D2BD-A58F-AB25-AE3153A0B8B4}"/>
              </a:ext>
            </a:extLst>
          </p:cNvPr>
          <p:cNvSpPr txBox="1"/>
          <p:nvPr/>
        </p:nvSpPr>
        <p:spPr>
          <a:xfrm>
            <a:off x="654537" y="4860782"/>
            <a:ext cx="7300450" cy="421269"/>
          </a:xfrm>
          <a:prstGeom prst="rect">
            <a:avLst/>
          </a:prstGeom>
          <a:noFill/>
        </p:spPr>
        <p:txBody>
          <a:bodyPr wrap="square">
            <a:spAutoFit/>
          </a:bodyPr>
          <a:lstStyle/>
          <a:p>
            <a:pPr marL="0" indent="0" algn="l">
              <a:lnSpc>
                <a:spcPct val="133000"/>
              </a:lnSpc>
              <a:buNone/>
            </a:pPr>
            <a:r>
              <a:rPr lang="en-US" dirty="0">
                <a:solidFill>
                  <a:srgbClr val="3B3535"/>
                </a:solidFill>
                <a:latin typeface="Arial" panose="020B0604020202020204" pitchFamily="34" charset="0"/>
                <a:ea typeface="Sora Light" pitchFamily="34" charset="-122"/>
                <a:cs typeface="Arial" panose="020B0604020202020204" pitchFamily="34" charset="0"/>
              </a:rPr>
              <a:t>19</a:t>
            </a:r>
            <a:r>
              <a:rPr lang="en-US" baseline="30000" dirty="0">
                <a:solidFill>
                  <a:srgbClr val="3B3535"/>
                </a:solidFill>
                <a:latin typeface="Arial" panose="020B0604020202020204" pitchFamily="34" charset="0"/>
                <a:ea typeface="Sora Light" pitchFamily="34" charset="-122"/>
                <a:cs typeface="Arial" panose="020B0604020202020204" pitchFamily="34" charset="0"/>
              </a:rPr>
              <a:t>th</a:t>
            </a:r>
            <a:r>
              <a:rPr lang="en-US" dirty="0">
                <a:solidFill>
                  <a:srgbClr val="3B3535"/>
                </a:solidFill>
                <a:latin typeface="Arial" panose="020B0604020202020204" pitchFamily="34" charset="0"/>
                <a:ea typeface="Sora Light" pitchFamily="34" charset="-122"/>
                <a:cs typeface="Arial" panose="020B0604020202020204" pitchFamily="34" charset="0"/>
              </a:rPr>
              <a:t> August 2026.</a:t>
            </a:r>
            <a:endParaRPr lang="en-US" dirty="0">
              <a:latin typeface="Arial" panose="020B0604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56221182-E604-CE3C-0A62-7E35B1F2F788}"/>
              </a:ext>
            </a:extLst>
          </p:cNvPr>
          <p:cNvSpPr/>
          <p:nvPr/>
        </p:nvSpPr>
        <p:spPr>
          <a:xfrm>
            <a:off x="11097928" y="6564636"/>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1908" y="1259582"/>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The Balancing Act Every Distributor Knows</a:t>
            </a:r>
            <a:endParaRPr lang="en-US" sz="3700" dirty="0"/>
          </a:p>
        </p:txBody>
      </p:sp>
      <p:sp>
        <p:nvSpPr>
          <p:cNvPr id="3" name="Shape 1"/>
          <p:cNvSpPr/>
          <p:nvPr/>
        </p:nvSpPr>
        <p:spPr>
          <a:xfrm>
            <a:off x="501836" y="2124273"/>
            <a:ext cx="5503824" cy="1361877"/>
          </a:xfrm>
          <a:prstGeom prst="roundRect">
            <a:avLst>
              <a:gd name="adj" fmla="val 9545"/>
            </a:avLst>
          </a:prstGeom>
          <a:solidFill>
            <a:srgbClr val="DA1B2E"/>
          </a:solidFill>
          <a:ln/>
        </p:spPr>
        <p:txBody>
          <a:bodyPr/>
          <a:lstStyle/>
          <a:p>
            <a:endParaRPr lang="en-US"/>
          </a:p>
        </p:txBody>
      </p:sp>
      <p:sp>
        <p:nvSpPr>
          <p:cNvPr id="4" name="Text 2"/>
          <p:cNvSpPr/>
          <p:nvPr/>
        </p:nvSpPr>
        <p:spPr>
          <a:xfrm>
            <a:off x="682310" y="2304752"/>
            <a:ext cx="5142875" cy="296863"/>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Sora SemiBold" pitchFamily="34" charset="0"/>
                <a:ea typeface="Sora SemiBold" pitchFamily="34" charset="-122"/>
                <a:cs typeface="Sora SemiBold" pitchFamily="34" charset="-120"/>
              </a:rPr>
              <a:t>Order Too Little</a:t>
            </a:r>
            <a:endParaRPr lang="en-US" sz="1850" dirty="0"/>
          </a:p>
        </p:txBody>
      </p:sp>
      <p:sp>
        <p:nvSpPr>
          <p:cNvPr id="5" name="Text 3"/>
          <p:cNvSpPr/>
          <p:nvPr/>
        </p:nvSpPr>
        <p:spPr>
          <a:xfrm>
            <a:off x="682310" y="2782094"/>
            <a:ext cx="5142875" cy="640953"/>
          </a:xfrm>
          <a:prstGeom prst="rect">
            <a:avLst/>
          </a:prstGeom>
          <a:noFill/>
          <a:ln/>
        </p:spPr>
        <p:txBody>
          <a:bodyPr wrap="square" lIns="0" tIns="72219" rIns="0" bIns="0" rtlCol="0" anchor="t">
            <a:normAutofit/>
          </a:bodyPr>
          <a:lstStyle/>
          <a:p>
            <a:pPr marL="284480" indent="-284480" algn="l">
              <a:lnSpc>
                <a:spcPct val="133000"/>
              </a:lnSpc>
              <a:buSzPct val="100000"/>
              <a:buChar char="•"/>
            </a:pPr>
            <a:r>
              <a:rPr lang="en-US" sz="1400" dirty="0">
                <a:solidFill>
                  <a:srgbClr val="FFFFFF"/>
                </a:solidFill>
                <a:latin typeface="Sora Light" pitchFamily="34" charset="0"/>
                <a:ea typeface="Sora Light" pitchFamily="34" charset="-122"/>
                <a:cs typeface="Sora Light" pitchFamily="34" charset="-120"/>
              </a:rPr>
              <a:t>Lost sales and disappointed customers</a:t>
            </a:r>
            <a:endParaRPr lang="en-US" sz="1400" dirty="0"/>
          </a:p>
          <a:p>
            <a:pPr marL="284480" indent="-284480" algn="l">
              <a:lnSpc>
                <a:spcPct val="133000"/>
              </a:lnSpc>
              <a:buSzPct val="100000"/>
              <a:buChar char="•"/>
            </a:pPr>
            <a:r>
              <a:rPr lang="en-US" sz="1400" dirty="0">
                <a:solidFill>
                  <a:srgbClr val="FFFFFF"/>
                </a:solidFill>
                <a:latin typeface="Sora Light" pitchFamily="34" charset="0"/>
                <a:ea typeface="Sora Light" pitchFamily="34" charset="-122"/>
                <a:cs typeface="Sora Light" pitchFamily="34" charset="-120"/>
              </a:rPr>
              <a:t>Missed revenue opportunities</a:t>
            </a:r>
            <a:endParaRPr lang="en-US" sz="1400" dirty="0"/>
          </a:p>
        </p:txBody>
      </p:sp>
      <p:sp>
        <p:nvSpPr>
          <p:cNvPr id="6" name="Text 4"/>
          <p:cNvSpPr/>
          <p:nvPr/>
        </p:nvSpPr>
        <p:spPr>
          <a:xfrm>
            <a:off x="6322457" y="2304752"/>
            <a:ext cx="5243679" cy="296863"/>
          </a:xfrm>
          <a:prstGeom prst="rect">
            <a:avLst/>
          </a:prstGeom>
          <a:noFill/>
          <a:ln/>
        </p:spPr>
        <p:txBody>
          <a:bodyPr wrap="none" lIns="0" tIns="0" rIns="0" bIns="0" rtlCol="0" anchor="t"/>
          <a:lstStyle/>
          <a:p>
            <a:pPr marL="0" indent="0" algn="l">
              <a:lnSpc>
                <a:spcPct val="104000"/>
              </a:lnSpc>
              <a:buNone/>
            </a:pPr>
            <a:r>
              <a:rPr lang="en-US" sz="1850" dirty="0">
                <a:solidFill>
                  <a:srgbClr val="1F1E1E"/>
                </a:solidFill>
                <a:latin typeface="Sora SemiBold" pitchFamily="34" charset="0"/>
                <a:ea typeface="Sora SemiBold" pitchFamily="34" charset="-122"/>
                <a:cs typeface="Sora SemiBold" pitchFamily="34" charset="-120"/>
              </a:rPr>
              <a:t>Order Too Much</a:t>
            </a:r>
            <a:endParaRPr lang="en-US" sz="1850" dirty="0"/>
          </a:p>
        </p:txBody>
      </p:sp>
      <p:sp>
        <p:nvSpPr>
          <p:cNvPr id="7" name="Text 5"/>
          <p:cNvSpPr/>
          <p:nvPr/>
        </p:nvSpPr>
        <p:spPr>
          <a:xfrm>
            <a:off x="6322457" y="2782094"/>
            <a:ext cx="5243679" cy="640953"/>
          </a:xfrm>
          <a:prstGeom prst="rect">
            <a:avLst/>
          </a:prstGeom>
          <a:noFill/>
          <a:ln/>
        </p:spPr>
        <p:txBody>
          <a:bodyPr wrap="square" lIns="0" tIns="72219" rIns="0" bIns="0" rtlCol="0" anchor="t">
            <a:normAutofit/>
          </a:bodyPr>
          <a:lstStyle/>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Money tied up in unsold stock</a:t>
            </a:r>
            <a:endParaRPr lang="en-US" sz="1400" dirty="0"/>
          </a:p>
          <a:p>
            <a:pPr marL="284480" indent="-284480" algn="l">
              <a:lnSpc>
                <a:spcPct val="133000"/>
              </a:lnSpc>
              <a:buSzPct val="100000"/>
              <a:buChar char="•"/>
            </a:pPr>
            <a:r>
              <a:rPr lang="en-US" sz="1400" dirty="0">
                <a:solidFill>
                  <a:srgbClr val="3B3535"/>
                </a:solidFill>
                <a:latin typeface="Sora Light" pitchFamily="34" charset="0"/>
                <a:ea typeface="Sora Light" pitchFamily="34" charset="-122"/>
                <a:cs typeface="Sora Light" pitchFamily="34" charset="-120"/>
              </a:rPr>
              <a:t>Storage costs and cash flow strain</a:t>
            </a:r>
            <a:endParaRPr lang="en-US" sz="1400" dirty="0"/>
          </a:p>
        </p:txBody>
      </p:sp>
      <p:sp>
        <p:nvSpPr>
          <p:cNvPr id="8" name="Text 6"/>
          <p:cNvSpPr/>
          <p:nvPr/>
        </p:nvSpPr>
        <p:spPr>
          <a:xfrm>
            <a:off x="902670" y="3892352"/>
            <a:ext cx="11266702" cy="288925"/>
          </a:xfrm>
          <a:prstGeom prst="rect">
            <a:avLst/>
          </a:prstGeom>
          <a:noFill/>
          <a:ln/>
        </p:spPr>
        <p:txBody>
          <a:bodyPr wrap="none" lIns="0" tIns="0" rIns="0" bIns="0" rtlCol="0" anchor="t"/>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This project builds a tool to help you get that balance right, using your own sales history.</a:t>
            </a:r>
            <a:endParaRPr lang="en-US" sz="1400" dirty="0"/>
          </a:p>
        </p:txBody>
      </p:sp>
      <p:sp>
        <p:nvSpPr>
          <p:cNvPr id="9" name="Shape 7"/>
          <p:cNvSpPr/>
          <p:nvPr/>
        </p:nvSpPr>
        <p:spPr>
          <a:xfrm>
            <a:off x="631908" y="3689251"/>
            <a:ext cx="25399" cy="695127"/>
          </a:xfrm>
          <a:prstGeom prst="roundRect">
            <a:avLst>
              <a:gd name="adj" fmla="val 50001"/>
            </a:avLst>
          </a:prstGeom>
          <a:solidFill>
            <a:srgbClr val="DA1B2E"/>
          </a:solidFill>
          <a:ln/>
        </p:spPr>
        <p:txBody>
          <a:bodyPr/>
          <a:lstStyle/>
          <a:p>
            <a:endParaRPr lang="en-US"/>
          </a:p>
        </p:txBody>
      </p:sp>
      <p:sp>
        <p:nvSpPr>
          <p:cNvPr id="10" name="Shape 8"/>
          <p:cNvSpPr/>
          <p:nvPr/>
        </p:nvSpPr>
        <p:spPr>
          <a:xfrm>
            <a:off x="631908" y="4587478"/>
            <a:ext cx="10927878" cy="1010841"/>
          </a:xfrm>
          <a:prstGeom prst="roundRect">
            <a:avLst>
              <a:gd name="adj" fmla="val 7502"/>
            </a:avLst>
          </a:prstGeom>
          <a:solidFill>
            <a:srgbClr val="F9D2D6"/>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812383" y="4845546"/>
            <a:ext cx="225618" cy="180479"/>
          </a:xfrm>
          <a:prstGeom prst="rect">
            <a:avLst/>
          </a:prstGeom>
        </p:spPr>
      </p:pic>
      <p:sp>
        <p:nvSpPr>
          <p:cNvPr id="12" name="Text 9"/>
          <p:cNvSpPr/>
          <p:nvPr/>
        </p:nvSpPr>
        <p:spPr>
          <a:xfrm>
            <a:off x="1218475" y="4813002"/>
            <a:ext cx="10160837" cy="577850"/>
          </a:xfrm>
          <a:prstGeom prst="rect">
            <a:avLst/>
          </a:prstGeom>
          <a:noFill/>
          <a:ln/>
        </p:spPr>
        <p:txBody>
          <a:bodyPr wrap="square" lIns="0" tIns="0" rIns="0" bIns="0" rtlCol="0" anchor="t">
            <a:normAutofit/>
          </a:bodyPr>
          <a:lstStyle/>
          <a:p>
            <a:pPr marL="0" indent="0" algn="l">
              <a:lnSpc>
                <a:spcPct val="133000"/>
              </a:lnSpc>
              <a:buNone/>
            </a:pPr>
            <a:r>
              <a:rPr lang="en-US" sz="1400" b="1" i="1" dirty="0">
                <a:solidFill>
                  <a:srgbClr val="000000"/>
                </a:solidFill>
                <a:latin typeface="Sora Bold" pitchFamily="34" charset="0"/>
                <a:ea typeface="Sora Bold" pitchFamily="34" charset="-122"/>
                <a:cs typeface="Sora Bold" pitchFamily="34" charset="-120"/>
              </a:rPr>
              <a:t>Technical Note:</a:t>
            </a:r>
            <a:r>
              <a:rPr lang="en-US" sz="1400" i="1" dirty="0">
                <a:solidFill>
                  <a:srgbClr val="000000"/>
                </a:solidFill>
                <a:latin typeface="Sora Light" pitchFamily="34" charset="0"/>
                <a:ea typeface="Sora Light" pitchFamily="34" charset="-122"/>
                <a:cs typeface="Sora Light" pitchFamily="34" charset="-120"/>
              </a:rPr>
              <a:t> Framing aligns with classic  business problem, cost structure of overage vs. underage, addressed via data-driven demand signal.</a:t>
            </a:r>
            <a:endParaRPr lang="en-US" sz="1400" dirty="0"/>
          </a:p>
        </p:txBody>
      </p:sp>
      <p:sp>
        <p:nvSpPr>
          <p:cNvPr id="14" name="Rectangle: Rounded Corners 13">
            <a:extLst>
              <a:ext uri="{FF2B5EF4-FFF2-40B4-BE49-F238E27FC236}">
                <a16:creationId xmlns:a16="http://schemas.microsoft.com/office/drawing/2014/main" id="{1E16A53D-985D-81F0-C52C-12AE9201A4E9}"/>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1087437"/>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What We Built For You</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2042418"/>
            <a:ext cx="3522277" cy="2514203"/>
          </a:xfrm>
          <a:prstGeom prst="rect">
            <a:avLst/>
          </a:prstGeom>
        </p:spPr>
      </p:pic>
      <p:sp>
        <p:nvSpPr>
          <p:cNvPr id="4" name="Text 1"/>
          <p:cNvSpPr/>
          <p:nvPr/>
        </p:nvSpPr>
        <p:spPr>
          <a:xfrm>
            <a:off x="2257666" y="2166144"/>
            <a:ext cx="270761" cy="338534"/>
          </a:xfrm>
          <a:prstGeom prst="rect">
            <a:avLst/>
          </a:prstGeom>
          <a:noFill/>
          <a:ln/>
        </p:spPr>
        <p:txBody>
          <a:bodyPr wrap="none" lIns="0" tIns="0" rIns="0" bIns="0" rtlCol="0" anchor="ctr"/>
          <a:lstStyle/>
          <a:p>
            <a:pPr marL="0" indent="0" algn="ctr">
              <a:lnSpc>
                <a:spcPct val="100000"/>
              </a:lnSpc>
              <a:buNone/>
            </a:pPr>
            <a:r>
              <a:rPr lang="en-US" sz="2100" dirty="0">
                <a:solidFill>
                  <a:srgbClr val="3B3535"/>
                </a:solidFill>
                <a:latin typeface="Sora SemiBold" pitchFamily="34" charset="0"/>
                <a:ea typeface="Sora SemiBold" pitchFamily="34" charset="-122"/>
                <a:cs typeface="Sora SemiBold" pitchFamily="34" charset="-120"/>
              </a:rPr>
              <a:t>1</a:t>
            </a:r>
            <a:endParaRPr lang="en-US" sz="2100" dirty="0"/>
          </a:p>
        </p:txBody>
      </p:sp>
      <p:sp>
        <p:nvSpPr>
          <p:cNvPr id="5" name="Text 2"/>
          <p:cNvSpPr/>
          <p:nvPr/>
        </p:nvSpPr>
        <p:spPr>
          <a:xfrm>
            <a:off x="837782" y="2789932"/>
            <a:ext cx="3110529"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Forecasting Engine</a:t>
            </a:r>
            <a:endParaRPr lang="en-US" sz="1850" dirty="0"/>
          </a:p>
        </p:txBody>
      </p:sp>
      <p:sp>
        <p:nvSpPr>
          <p:cNvPr id="6" name="Text 3"/>
          <p:cNvSpPr/>
          <p:nvPr/>
        </p:nvSpPr>
        <p:spPr>
          <a:xfrm>
            <a:off x="837782" y="3195042"/>
            <a:ext cx="3110529" cy="115570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Predicts how much of each product will sell, for every product, every sales channel, and every region, on any given day.</a:t>
            </a:r>
            <a:endParaRPr lang="en-US" sz="14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34660" y="2042418"/>
            <a:ext cx="3522277" cy="2514203"/>
          </a:xfrm>
          <a:prstGeom prst="rect">
            <a:avLst/>
          </a:prstGeom>
        </p:spPr>
      </p:pic>
      <p:sp>
        <p:nvSpPr>
          <p:cNvPr id="8" name="Text 4"/>
          <p:cNvSpPr/>
          <p:nvPr/>
        </p:nvSpPr>
        <p:spPr>
          <a:xfrm>
            <a:off x="5960417" y="2166144"/>
            <a:ext cx="270761" cy="338534"/>
          </a:xfrm>
          <a:prstGeom prst="rect">
            <a:avLst/>
          </a:prstGeom>
          <a:noFill/>
          <a:ln/>
        </p:spPr>
        <p:txBody>
          <a:bodyPr wrap="none" lIns="0" tIns="0" rIns="0" bIns="0" rtlCol="0" anchor="ctr"/>
          <a:lstStyle/>
          <a:p>
            <a:pPr marL="0" indent="0" algn="ctr">
              <a:lnSpc>
                <a:spcPct val="100000"/>
              </a:lnSpc>
              <a:buNone/>
            </a:pPr>
            <a:r>
              <a:rPr lang="en-US" sz="2100" dirty="0">
                <a:solidFill>
                  <a:srgbClr val="3B3535"/>
                </a:solidFill>
                <a:latin typeface="Sora SemiBold" pitchFamily="34" charset="0"/>
                <a:ea typeface="Sora SemiBold" pitchFamily="34" charset="-122"/>
                <a:cs typeface="Sora SemiBold" pitchFamily="34" charset="-120"/>
              </a:rPr>
              <a:t>2</a:t>
            </a:r>
            <a:endParaRPr lang="en-US" sz="2100" dirty="0"/>
          </a:p>
        </p:txBody>
      </p:sp>
      <p:sp>
        <p:nvSpPr>
          <p:cNvPr id="9" name="Text 5"/>
          <p:cNvSpPr/>
          <p:nvPr/>
        </p:nvSpPr>
        <p:spPr>
          <a:xfrm>
            <a:off x="4540533" y="2789932"/>
            <a:ext cx="3110529"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Inventory Health System</a:t>
            </a:r>
            <a:endParaRPr lang="en-US" sz="1850" dirty="0"/>
          </a:p>
        </p:txBody>
      </p:sp>
      <p:sp>
        <p:nvSpPr>
          <p:cNvPr id="10" name="Text 6"/>
          <p:cNvSpPr/>
          <p:nvPr/>
        </p:nvSpPr>
        <p:spPr>
          <a:xfrm>
            <a:off x="4540533" y="3195042"/>
            <a:ext cx="3110529" cy="86677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Flags which products are running low, and which are sitting with too much stock, right now.</a:t>
            </a:r>
            <a:endParaRPr lang="en-US" sz="14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7411" y="2042418"/>
            <a:ext cx="3522376" cy="2514203"/>
          </a:xfrm>
          <a:prstGeom prst="rect">
            <a:avLst/>
          </a:prstGeom>
        </p:spPr>
      </p:pic>
      <p:sp>
        <p:nvSpPr>
          <p:cNvPr id="12" name="Text 7"/>
          <p:cNvSpPr/>
          <p:nvPr/>
        </p:nvSpPr>
        <p:spPr>
          <a:xfrm>
            <a:off x="9663168" y="2166144"/>
            <a:ext cx="270761" cy="338534"/>
          </a:xfrm>
          <a:prstGeom prst="rect">
            <a:avLst/>
          </a:prstGeom>
          <a:noFill/>
          <a:ln/>
        </p:spPr>
        <p:txBody>
          <a:bodyPr wrap="none" lIns="0" tIns="0" rIns="0" bIns="0" rtlCol="0" anchor="ctr"/>
          <a:lstStyle/>
          <a:p>
            <a:pPr marL="0" indent="0" algn="ctr">
              <a:lnSpc>
                <a:spcPct val="100000"/>
              </a:lnSpc>
              <a:buNone/>
            </a:pPr>
            <a:r>
              <a:rPr lang="en-US" sz="2100" dirty="0">
                <a:solidFill>
                  <a:srgbClr val="3B3535"/>
                </a:solidFill>
                <a:latin typeface="Sora SemiBold" pitchFamily="34" charset="0"/>
                <a:ea typeface="Sora SemiBold" pitchFamily="34" charset="-122"/>
                <a:cs typeface="Sora SemiBold" pitchFamily="34" charset="-120"/>
              </a:rPr>
              <a:t>3</a:t>
            </a:r>
            <a:endParaRPr lang="en-US" sz="2100" dirty="0"/>
          </a:p>
        </p:txBody>
      </p:sp>
      <p:sp>
        <p:nvSpPr>
          <p:cNvPr id="13" name="Text 8"/>
          <p:cNvSpPr/>
          <p:nvPr/>
        </p:nvSpPr>
        <p:spPr>
          <a:xfrm>
            <a:off x="8243284" y="2789932"/>
            <a:ext cx="3110628"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Clear Recommendation</a:t>
            </a:r>
            <a:endParaRPr lang="en-US" sz="1850" dirty="0"/>
          </a:p>
        </p:txBody>
      </p:sp>
      <p:sp>
        <p:nvSpPr>
          <p:cNvPr id="14" name="Text 9"/>
          <p:cNvSpPr/>
          <p:nvPr/>
        </p:nvSpPr>
        <p:spPr>
          <a:xfrm>
            <a:off x="8243284" y="3195042"/>
            <a:ext cx="3110628" cy="86677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A single, evidence-based starting point so you know exactly where to focus your attention first.</a:t>
            </a:r>
            <a:endParaRPr lang="en-US" sz="1400" dirty="0"/>
          </a:p>
        </p:txBody>
      </p:sp>
      <p:sp>
        <p:nvSpPr>
          <p:cNvPr id="15" name="Shape 10"/>
          <p:cNvSpPr/>
          <p:nvPr/>
        </p:nvSpPr>
        <p:spPr>
          <a:xfrm>
            <a:off x="631908" y="4759722"/>
            <a:ext cx="10927878" cy="1010841"/>
          </a:xfrm>
          <a:prstGeom prst="roundRect">
            <a:avLst>
              <a:gd name="adj" fmla="val 7502"/>
            </a:avLst>
          </a:prstGeom>
          <a:solidFill>
            <a:srgbClr val="F9D2D6"/>
          </a:solidFill>
          <a:ln/>
        </p:spPr>
        <p:txBody>
          <a:bodyPr/>
          <a:lstStyle/>
          <a:p>
            <a:endParaRPr lang="en-US"/>
          </a:p>
        </p:txBody>
      </p:sp>
      <p:pic>
        <p:nvPicPr>
          <p:cNvPr id="16" name="Image 3" descr="preencoded.png"/>
          <p:cNvPicPr>
            <a:picLocks noChangeAspect="1"/>
          </p:cNvPicPr>
          <p:nvPr/>
        </p:nvPicPr>
        <p:blipFill>
          <a:blip r:embed="rId4"/>
          <a:stretch>
            <a:fillRect/>
          </a:stretch>
        </p:blipFill>
        <p:spPr>
          <a:xfrm>
            <a:off x="812383" y="5017790"/>
            <a:ext cx="225618" cy="180479"/>
          </a:xfrm>
          <a:prstGeom prst="rect">
            <a:avLst/>
          </a:prstGeom>
        </p:spPr>
      </p:pic>
      <p:sp>
        <p:nvSpPr>
          <p:cNvPr id="17" name="Text 11"/>
          <p:cNvSpPr/>
          <p:nvPr/>
        </p:nvSpPr>
        <p:spPr>
          <a:xfrm>
            <a:off x="1218475" y="4985246"/>
            <a:ext cx="10160837" cy="577850"/>
          </a:xfrm>
          <a:prstGeom prst="rect">
            <a:avLst/>
          </a:prstGeom>
          <a:noFill/>
          <a:ln/>
        </p:spPr>
        <p:txBody>
          <a:bodyPr wrap="square" lIns="0" tIns="0" rIns="0" bIns="0" rtlCol="0" anchor="t">
            <a:normAutofit/>
          </a:bodyPr>
          <a:lstStyle/>
          <a:p>
            <a:pPr marL="0" indent="0" algn="l">
              <a:lnSpc>
                <a:spcPct val="133000"/>
              </a:lnSpc>
              <a:buNone/>
            </a:pPr>
            <a:r>
              <a:rPr lang="en-US" sz="1400" b="1" i="1" dirty="0">
                <a:solidFill>
                  <a:srgbClr val="000000"/>
                </a:solidFill>
                <a:latin typeface="Sora Bold" pitchFamily="34" charset="0"/>
                <a:ea typeface="Sora Bold" pitchFamily="34" charset="-122"/>
                <a:cs typeface="Sora Bold" pitchFamily="34" charset="-120"/>
              </a:rPr>
              <a:t>Technical Note:</a:t>
            </a:r>
            <a:r>
              <a:rPr lang="en-US" sz="1400" i="1" dirty="0">
                <a:solidFill>
                  <a:srgbClr val="000000"/>
                </a:solidFill>
                <a:latin typeface="Sora Light" pitchFamily="34" charset="0"/>
                <a:ea typeface="Sora Light" pitchFamily="34" charset="-122"/>
                <a:cs typeface="Sora Light" pitchFamily="34" charset="-120"/>
              </a:rPr>
              <a:t> Built entirely with Python, pandas, and scikit-learn. No deep learning or heavy frameworks, by design, this is a lean, maintainable MVP.</a:t>
            </a:r>
            <a:endParaRPr lang="en-US" sz="1400" dirty="0"/>
          </a:p>
        </p:txBody>
      </p:sp>
      <p:sp>
        <p:nvSpPr>
          <p:cNvPr id="19" name="Rectangle: Rounded Corners 18">
            <a:extLst>
              <a:ext uri="{FF2B5EF4-FFF2-40B4-BE49-F238E27FC236}">
                <a16:creationId xmlns:a16="http://schemas.microsoft.com/office/drawing/2014/main" id="{11045883-B146-9439-8F5B-5C5EEFC60EE0}"/>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1908" y="580628"/>
            <a:ext cx="10927878" cy="564158"/>
          </a:xfrm>
          <a:prstGeom prst="rect">
            <a:avLst/>
          </a:prstGeom>
          <a:noFill/>
          <a:ln/>
        </p:spPr>
        <p:txBody>
          <a:bodyPr wrap="none" lIns="0" tIns="0" rIns="0" bIns="0" rtlCol="0" anchor="t"/>
          <a:lstStyle/>
          <a:p>
            <a:pPr marL="0" indent="0" algn="l">
              <a:lnSpc>
                <a:spcPct val="104000"/>
              </a:lnSpc>
              <a:buNone/>
            </a:pPr>
            <a:r>
              <a:rPr lang="en-US" sz="3550" dirty="0">
                <a:solidFill>
                  <a:srgbClr val="1F1E1E"/>
                </a:solidFill>
                <a:latin typeface="Sora SemiBold" pitchFamily="34" charset="0"/>
                <a:ea typeface="Sora SemiBold" pitchFamily="34" charset="-122"/>
                <a:cs typeface="Sora SemiBold" pitchFamily="34" charset="-120"/>
              </a:rPr>
              <a:t>About the Data Behind This Project</a:t>
            </a:r>
            <a:endParaRPr lang="en-US" sz="3550" dirty="0"/>
          </a:p>
        </p:txBody>
      </p:sp>
      <p:sp>
        <p:nvSpPr>
          <p:cNvPr id="3" name="Text 1"/>
          <p:cNvSpPr/>
          <p:nvPr/>
        </p:nvSpPr>
        <p:spPr>
          <a:xfrm>
            <a:off x="631908" y="1470620"/>
            <a:ext cx="10927878" cy="535186"/>
          </a:xfrm>
          <a:prstGeom prst="rect">
            <a:avLst/>
          </a:prstGeom>
          <a:noFill/>
          <a:ln/>
        </p:spPr>
        <p:txBody>
          <a:bodyPr wrap="square" lIns="0" tIns="0" rIns="0" bIns="0" rtlCol="0" anchor="t">
            <a:normAutofit/>
          </a:bodyPr>
          <a:lstStyle/>
          <a:p>
            <a:pPr marL="0" indent="0" algn="l">
              <a:lnSpc>
                <a:spcPct val="130000"/>
              </a:lnSpc>
              <a:buNone/>
            </a:pPr>
            <a:r>
              <a:rPr lang="en-US" sz="1350" dirty="0">
                <a:solidFill>
                  <a:srgbClr val="3B3535"/>
                </a:solidFill>
                <a:latin typeface="Sora Light" pitchFamily="34" charset="0"/>
                <a:ea typeface="Sora Light" pitchFamily="34" charset="-122"/>
                <a:cs typeface="Sora Light" pitchFamily="34" charset="-120"/>
              </a:rPr>
              <a:t>This system was built and tested using close to three years of daily sales history. Before relying on it, we checked the data carefully to confirm it behaves like real sales activity.</a:t>
            </a:r>
            <a:endParaRPr lang="en-US" sz="1350" dirty="0"/>
          </a:p>
        </p:txBody>
      </p:sp>
      <p:sp>
        <p:nvSpPr>
          <p:cNvPr id="4" name="Text 2"/>
          <p:cNvSpPr/>
          <p:nvPr/>
        </p:nvSpPr>
        <p:spPr>
          <a:xfrm>
            <a:off x="765950" y="2274788"/>
            <a:ext cx="5093962" cy="566043"/>
          </a:xfrm>
          <a:prstGeom prst="rect">
            <a:avLst/>
          </a:prstGeom>
          <a:noFill/>
          <a:ln/>
        </p:spPr>
        <p:txBody>
          <a:bodyPr wrap="none" lIns="0" tIns="0" rIns="0" bIns="0" rtlCol="0" anchor="t"/>
          <a:lstStyle/>
          <a:p>
            <a:pPr marL="0" indent="0" algn="ctr">
              <a:lnSpc>
                <a:spcPct val="83000"/>
              </a:lnSpc>
              <a:buNone/>
            </a:pPr>
            <a:r>
              <a:rPr lang="en-US" sz="4450" dirty="0">
                <a:solidFill>
                  <a:srgbClr val="3B3535"/>
                </a:solidFill>
                <a:latin typeface="Sora SemiBold" pitchFamily="34" charset="0"/>
                <a:ea typeface="Sora SemiBold" pitchFamily="34" charset="-122"/>
                <a:cs typeface="Sora SemiBold" pitchFamily="34" charset="-120"/>
              </a:rPr>
              <a:t>190,757</a:t>
            </a:r>
            <a:endParaRPr lang="en-US" sz="4450" dirty="0"/>
          </a:p>
        </p:txBody>
      </p:sp>
      <p:sp>
        <p:nvSpPr>
          <p:cNvPr id="5" name="Text 3"/>
          <p:cNvSpPr/>
          <p:nvPr/>
        </p:nvSpPr>
        <p:spPr>
          <a:xfrm>
            <a:off x="631908" y="3048695"/>
            <a:ext cx="5362143" cy="282079"/>
          </a:xfrm>
          <a:prstGeom prst="rect">
            <a:avLst/>
          </a:prstGeom>
          <a:noFill/>
          <a:ln/>
        </p:spPr>
        <p:txBody>
          <a:bodyPr wrap="none" lIns="0" tIns="0" rIns="0" bIns="0" rtlCol="0" anchor="t"/>
          <a:lstStyle/>
          <a:p>
            <a:pPr marL="0" indent="0" algn="ctr">
              <a:lnSpc>
                <a:spcPct val="104000"/>
              </a:lnSpc>
              <a:buNone/>
            </a:pPr>
            <a:r>
              <a:rPr lang="en-US" sz="1750" dirty="0">
                <a:solidFill>
                  <a:srgbClr val="3B3535"/>
                </a:solidFill>
                <a:latin typeface="Sora SemiBold" pitchFamily="34" charset="0"/>
                <a:ea typeface="Sora SemiBold" pitchFamily="34" charset="-122"/>
                <a:cs typeface="Sora SemiBold" pitchFamily="34" charset="-120"/>
              </a:rPr>
              <a:t>Sales Records Analyzed</a:t>
            </a:r>
            <a:endParaRPr lang="en-US" sz="1750" dirty="0"/>
          </a:p>
        </p:txBody>
      </p:sp>
      <p:sp>
        <p:nvSpPr>
          <p:cNvPr id="6" name="Text 4"/>
          <p:cNvSpPr/>
          <p:nvPr/>
        </p:nvSpPr>
        <p:spPr>
          <a:xfrm>
            <a:off x="6331685" y="2274788"/>
            <a:ext cx="5093962" cy="566043"/>
          </a:xfrm>
          <a:prstGeom prst="rect">
            <a:avLst/>
          </a:prstGeom>
          <a:noFill/>
          <a:ln/>
        </p:spPr>
        <p:txBody>
          <a:bodyPr wrap="none" lIns="0" tIns="0" rIns="0" bIns="0" rtlCol="0" anchor="t"/>
          <a:lstStyle/>
          <a:p>
            <a:pPr marL="0" indent="0" algn="ctr">
              <a:lnSpc>
                <a:spcPct val="83000"/>
              </a:lnSpc>
              <a:buNone/>
            </a:pPr>
            <a:r>
              <a:rPr lang="en-US" sz="4450" dirty="0">
                <a:solidFill>
                  <a:srgbClr val="3B3535"/>
                </a:solidFill>
                <a:latin typeface="Sora SemiBold" pitchFamily="34" charset="0"/>
                <a:ea typeface="Sora SemiBold" pitchFamily="34" charset="-122"/>
                <a:cs typeface="Sora SemiBold" pitchFamily="34" charset="-120"/>
              </a:rPr>
              <a:t>30</a:t>
            </a:r>
            <a:endParaRPr lang="en-US" sz="4450" dirty="0"/>
          </a:p>
        </p:txBody>
      </p:sp>
      <p:sp>
        <p:nvSpPr>
          <p:cNvPr id="7" name="Text 5"/>
          <p:cNvSpPr/>
          <p:nvPr/>
        </p:nvSpPr>
        <p:spPr>
          <a:xfrm>
            <a:off x="6197643" y="3048695"/>
            <a:ext cx="5362143" cy="282079"/>
          </a:xfrm>
          <a:prstGeom prst="rect">
            <a:avLst/>
          </a:prstGeom>
          <a:noFill/>
          <a:ln/>
        </p:spPr>
        <p:txBody>
          <a:bodyPr wrap="none" lIns="0" tIns="0" rIns="0" bIns="0" rtlCol="0" anchor="t"/>
          <a:lstStyle/>
          <a:p>
            <a:pPr marL="0" indent="0" algn="ctr">
              <a:lnSpc>
                <a:spcPct val="104000"/>
              </a:lnSpc>
              <a:buNone/>
            </a:pPr>
            <a:r>
              <a:rPr lang="en-US" sz="1750" dirty="0">
                <a:solidFill>
                  <a:srgbClr val="3B3535"/>
                </a:solidFill>
                <a:latin typeface="Sora SemiBold" pitchFamily="34" charset="0"/>
                <a:ea typeface="Sora SemiBold" pitchFamily="34" charset="-122"/>
                <a:cs typeface="Sora SemiBold" pitchFamily="34" charset="-120"/>
              </a:rPr>
              <a:t>Products Tracked</a:t>
            </a:r>
            <a:endParaRPr lang="en-US" sz="1750" dirty="0"/>
          </a:p>
        </p:txBody>
      </p:sp>
      <p:sp>
        <p:nvSpPr>
          <p:cNvPr id="8" name="Text 6"/>
          <p:cNvSpPr/>
          <p:nvPr/>
        </p:nvSpPr>
        <p:spPr>
          <a:xfrm>
            <a:off x="765950" y="3742333"/>
            <a:ext cx="5093962" cy="566043"/>
          </a:xfrm>
          <a:prstGeom prst="rect">
            <a:avLst/>
          </a:prstGeom>
          <a:noFill/>
          <a:ln/>
        </p:spPr>
        <p:txBody>
          <a:bodyPr wrap="none" lIns="0" tIns="0" rIns="0" bIns="0" rtlCol="0" anchor="t"/>
          <a:lstStyle/>
          <a:p>
            <a:pPr marL="0" indent="0" algn="ctr">
              <a:lnSpc>
                <a:spcPct val="83000"/>
              </a:lnSpc>
              <a:buNone/>
            </a:pPr>
            <a:r>
              <a:rPr lang="en-US" sz="4450" dirty="0">
                <a:solidFill>
                  <a:srgbClr val="3B3535"/>
                </a:solidFill>
                <a:latin typeface="Sora SemiBold" pitchFamily="34" charset="0"/>
                <a:ea typeface="Sora SemiBold" pitchFamily="34" charset="-122"/>
                <a:cs typeface="Sora SemiBold" pitchFamily="34" charset="-120"/>
              </a:rPr>
              <a:t>3 yrs</a:t>
            </a:r>
            <a:endParaRPr lang="en-US" sz="4450" dirty="0"/>
          </a:p>
        </p:txBody>
      </p:sp>
      <p:sp>
        <p:nvSpPr>
          <p:cNvPr id="9" name="Text 7"/>
          <p:cNvSpPr/>
          <p:nvPr/>
        </p:nvSpPr>
        <p:spPr>
          <a:xfrm>
            <a:off x="631908" y="4516239"/>
            <a:ext cx="5362143" cy="282079"/>
          </a:xfrm>
          <a:prstGeom prst="rect">
            <a:avLst/>
          </a:prstGeom>
          <a:noFill/>
          <a:ln/>
        </p:spPr>
        <p:txBody>
          <a:bodyPr wrap="none" lIns="0" tIns="0" rIns="0" bIns="0" rtlCol="0" anchor="t"/>
          <a:lstStyle/>
          <a:p>
            <a:pPr marL="0" indent="0" algn="ctr">
              <a:lnSpc>
                <a:spcPct val="104000"/>
              </a:lnSpc>
              <a:buNone/>
            </a:pPr>
            <a:r>
              <a:rPr lang="en-US" sz="1750" dirty="0">
                <a:solidFill>
                  <a:srgbClr val="3B3535"/>
                </a:solidFill>
                <a:latin typeface="Sora SemiBold" pitchFamily="34" charset="0"/>
                <a:ea typeface="Sora SemiBold" pitchFamily="34" charset="-122"/>
                <a:cs typeface="Sora SemiBold" pitchFamily="34" charset="-120"/>
              </a:rPr>
              <a:t>Daily History</a:t>
            </a:r>
            <a:endParaRPr lang="en-US" sz="1750" dirty="0"/>
          </a:p>
        </p:txBody>
      </p:sp>
      <p:sp>
        <p:nvSpPr>
          <p:cNvPr id="10" name="Text 8"/>
          <p:cNvSpPr/>
          <p:nvPr/>
        </p:nvSpPr>
        <p:spPr>
          <a:xfrm>
            <a:off x="631908" y="4896048"/>
            <a:ext cx="5362143" cy="267593"/>
          </a:xfrm>
          <a:prstGeom prst="rect">
            <a:avLst/>
          </a:prstGeom>
          <a:noFill/>
          <a:ln/>
        </p:spPr>
        <p:txBody>
          <a:bodyPr wrap="none" lIns="0" tIns="0" rIns="0" bIns="0" rtlCol="0" anchor="t"/>
          <a:lstStyle/>
          <a:p>
            <a:pPr marL="0" indent="0" algn="ctr">
              <a:lnSpc>
                <a:spcPct val="130000"/>
              </a:lnSpc>
              <a:buNone/>
            </a:pPr>
            <a:r>
              <a:rPr lang="en-US" sz="1350" dirty="0">
                <a:solidFill>
                  <a:srgbClr val="3B3535"/>
                </a:solidFill>
                <a:latin typeface="Sora Light" pitchFamily="34" charset="0"/>
                <a:ea typeface="Sora Light" pitchFamily="34" charset="-122"/>
                <a:cs typeface="Sora Light" pitchFamily="34" charset="-120"/>
              </a:rPr>
              <a:t>2022 to 2024</a:t>
            </a:r>
            <a:endParaRPr lang="en-US" sz="1350" dirty="0"/>
          </a:p>
        </p:txBody>
      </p:sp>
      <p:sp>
        <p:nvSpPr>
          <p:cNvPr id="11" name="Text 9"/>
          <p:cNvSpPr/>
          <p:nvPr/>
        </p:nvSpPr>
        <p:spPr>
          <a:xfrm>
            <a:off x="6331685" y="3742333"/>
            <a:ext cx="5093962" cy="566043"/>
          </a:xfrm>
          <a:prstGeom prst="rect">
            <a:avLst/>
          </a:prstGeom>
          <a:noFill/>
          <a:ln/>
        </p:spPr>
        <p:txBody>
          <a:bodyPr wrap="none" lIns="0" tIns="0" rIns="0" bIns="0" rtlCol="0" anchor="t"/>
          <a:lstStyle/>
          <a:p>
            <a:pPr marL="0" indent="0" algn="ctr">
              <a:lnSpc>
                <a:spcPct val="83000"/>
              </a:lnSpc>
              <a:buNone/>
            </a:pPr>
            <a:r>
              <a:rPr lang="en-US" sz="4450" dirty="0">
                <a:solidFill>
                  <a:srgbClr val="3B3535"/>
                </a:solidFill>
                <a:latin typeface="Sora SemiBold" pitchFamily="34" charset="0"/>
                <a:ea typeface="Sora SemiBold" pitchFamily="34" charset="-122"/>
                <a:cs typeface="Sora SemiBold" pitchFamily="34" charset="-120"/>
              </a:rPr>
              <a:t>3×3</a:t>
            </a:r>
            <a:endParaRPr lang="en-US" sz="4450" dirty="0"/>
          </a:p>
        </p:txBody>
      </p:sp>
      <p:sp>
        <p:nvSpPr>
          <p:cNvPr id="12" name="Text 10"/>
          <p:cNvSpPr/>
          <p:nvPr/>
        </p:nvSpPr>
        <p:spPr>
          <a:xfrm>
            <a:off x="6197643" y="4516239"/>
            <a:ext cx="5362143" cy="282079"/>
          </a:xfrm>
          <a:prstGeom prst="rect">
            <a:avLst/>
          </a:prstGeom>
          <a:noFill/>
          <a:ln/>
        </p:spPr>
        <p:txBody>
          <a:bodyPr wrap="none" lIns="0" tIns="0" rIns="0" bIns="0" rtlCol="0" anchor="t"/>
          <a:lstStyle/>
          <a:p>
            <a:pPr marL="0" indent="0" algn="ctr">
              <a:lnSpc>
                <a:spcPct val="104000"/>
              </a:lnSpc>
              <a:buNone/>
            </a:pPr>
            <a:r>
              <a:rPr lang="en-US" sz="1750" dirty="0">
                <a:solidFill>
                  <a:srgbClr val="3B3535"/>
                </a:solidFill>
                <a:latin typeface="Sora SemiBold" pitchFamily="34" charset="0"/>
                <a:ea typeface="Sora SemiBold" pitchFamily="34" charset="-122"/>
                <a:cs typeface="Sora SemiBold" pitchFamily="34" charset="-120"/>
              </a:rPr>
              <a:t>Regions &amp; Channels</a:t>
            </a:r>
            <a:endParaRPr lang="en-US" sz="1750" dirty="0"/>
          </a:p>
        </p:txBody>
      </p:sp>
      <p:sp>
        <p:nvSpPr>
          <p:cNvPr id="13" name="Text 11"/>
          <p:cNvSpPr/>
          <p:nvPr/>
        </p:nvSpPr>
        <p:spPr>
          <a:xfrm>
            <a:off x="6197643" y="4896048"/>
            <a:ext cx="5362143" cy="267593"/>
          </a:xfrm>
          <a:prstGeom prst="rect">
            <a:avLst/>
          </a:prstGeom>
          <a:noFill/>
          <a:ln/>
        </p:spPr>
        <p:txBody>
          <a:bodyPr wrap="none" lIns="0" tIns="0" rIns="0" bIns="0" rtlCol="0" anchor="t"/>
          <a:lstStyle/>
          <a:p>
            <a:pPr marL="0" indent="0" algn="ctr">
              <a:lnSpc>
                <a:spcPct val="130000"/>
              </a:lnSpc>
              <a:buNone/>
            </a:pPr>
            <a:r>
              <a:rPr lang="en-US" sz="1350" dirty="0">
                <a:solidFill>
                  <a:srgbClr val="3B3535"/>
                </a:solidFill>
                <a:latin typeface="Sora Light" pitchFamily="34" charset="0"/>
                <a:ea typeface="Sora Light" pitchFamily="34" charset="-122"/>
                <a:cs typeface="Sora Light" pitchFamily="34" charset="-120"/>
              </a:rPr>
              <a:t>Across your full distribution network</a:t>
            </a:r>
            <a:endParaRPr lang="en-US" sz="1350" dirty="0"/>
          </a:p>
        </p:txBody>
      </p:sp>
      <p:sp>
        <p:nvSpPr>
          <p:cNvPr id="14" name="Shape 12"/>
          <p:cNvSpPr/>
          <p:nvPr/>
        </p:nvSpPr>
        <p:spPr>
          <a:xfrm>
            <a:off x="631908" y="5346898"/>
            <a:ext cx="10927878" cy="930473"/>
          </a:xfrm>
          <a:prstGeom prst="roundRect">
            <a:avLst>
              <a:gd name="adj" fmla="val 7742"/>
            </a:avLst>
          </a:prstGeom>
          <a:solidFill>
            <a:srgbClr val="F9D2D6"/>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803354" y="5580459"/>
            <a:ext cx="214307" cy="171450"/>
          </a:xfrm>
          <a:prstGeom prst="rect">
            <a:avLst/>
          </a:prstGeom>
        </p:spPr>
      </p:pic>
      <p:sp>
        <p:nvSpPr>
          <p:cNvPr id="16" name="Text 13"/>
          <p:cNvSpPr/>
          <p:nvPr/>
        </p:nvSpPr>
        <p:spPr>
          <a:xfrm>
            <a:off x="1189107" y="5552678"/>
            <a:ext cx="10199234" cy="535186"/>
          </a:xfrm>
          <a:prstGeom prst="rect">
            <a:avLst/>
          </a:prstGeom>
          <a:noFill/>
          <a:ln/>
        </p:spPr>
        <p:txBody>
          <a:bodyPr wrap="square" lIns="0" tIns="0" rIns="0" bIns="0" rtlCol="0" anchor="t">
            <a:normAutofit/>
          </a:bodyPr>
          <a:lstStyle/>
          <a:p>
            <a:pPr marL="0" indent="0" algn="l">
              <a:lnSpc>
                <a:spcPct val="130000"/>
              </a:lnSpc>
              <a:buNone/>
            </a:pPr>
            <a:r>
              <a:rPr lang="en-US" sz="1350" b="1" i="1" dirty="0">
                <a:solidFill>
                  <a:srgbClr val="000000"/>
                </a:solidFill>
                <a:latin typeface="Sora Bold" pitchFamily="34" charset="0"/>
                <a:ea typeface="Sora Bold" pitchFamily="34" charset="-122"/>
                <a:cs typeface="Sora Bold" pitchFamily="34" charset="-120"/>
              </a:rPr>
              <a:t>Technical Note:</a:t>
            </a:r>
            <a:r>
              <a:rPr lang="en-US" sz="1350" i="1" dirty="0">
                <a:solidFill>
                  <a:srgbClr val="000000"/>
                </a:solidFill>
                <a:latin typeface="Sora Light" pitchFamily="34" charset="0"/>
                <a:ea typeface="Sora Light" pitchFamily="34" charset="-122"/>
                <a:cs typeface="Sora Light" pitchFamily="34" charset="-120"/>
              </a:rPr>
              <a:t> Dataset is synthetic, generated to reflect realistic demand patterns. Verified for genuine trend, promotion effects, and stockout mechanics prior to adoption.</a:t>
            </a:r>
            <a:endParaRPr lang="en-US" sz="1350" dirty="0"/>
          </a:p>
        </p:txBody>
      </p:sp>
      <p:sp>
        <p:nvSpPr>
          <p:cNvPr id="18" name="Rectangle: Rounded Corners 17">
            <a:extLst>
              <a:ext uri="{FF2B5EF4-FFF2-40B4-BE49-F238E27FC236}">
                <a16:creationId xmlns:a16="http://schemas.microsoft.com/office/drawing/2014/main" id="{17B16D44-1C69-D470-8714-E598C39E325D}"/>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766068"/>
            <a:ext cx="10927878" cy="445492"/>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Sora SemiBold" pitchFamily="34" charset="0"/>
                <a:ea typeface="Sora SemiBold" pitchFamily="34" charset="-122"/>
                <a:cs typeface="Sora SemiBold" pitchFamily="34" charset="-120"/>
              </a:rPr>
              <a:t>Every Sale, Tracked in Detail</a:t>
            </a:r>
            <a:endParaRPr lang="en-US" sz="2800" dirty="0"/>
          </a:p>
        </p:txBody>
      </p:sp>
      <p:sp>
        <p:nvSpPr>
          <p:cNvPr id="3" name="Text 1"/>
          <p:cNvSpPr/>
          <p:nvPr/>
        </p:nvSpPr>
        <p:spPr>
          <a:xfrm>
            <a:off x="631908" y="1414661"/>
            <a:ext cx="11537463" cy="189607"/>
          </a:xfrm>
          <a:prstGeom prst="rect">
            <a:avLst/>
          </a:prstGeom>
          <a:noFill/>
          <a:ln/>
        </p:spPr>
        <p:txBody>
          <a:bodyPr wrap="none" lIns="0" tIns="0" rIns="0" bIns="0" rtlCol="0" anchor="t"/>
          <a:lstStyle/>
          <a:p>
            <a:pPr marL="0" indent="0" algn="l">
              <a:lnSpc>
                <a:spcPct val="117000"/>
              </a:lnSpc>
              <a:buNone/>
            </a:pPr>
            <a:r>
              <a:rPr lang="en-US" sz="1400" b="1" dirty="0">
                <a:solidFill>
                  <a:srgbClr val="3B3535"/>
                </a:solidFill>
                <a:latin typeface="Sora Light" pitchFamily="34" charset="0"/>
                <a:ea typeface="Sora Light" pitchFamily="34" charset="-122"/>
                <a:cs typeface="Sora Light" pitchFamily="34" charset="-120"/>
              </a:rPr>
              <a:t>For every single day, we know exactly what sold, where, and how.</a:t>
            </a:r>
            <a:endParaRPr lang="en-US" sz="1400" b="1" dirty="0"/>
          </a:p>
        </p:txBody>
      </p:sp>
      <p:pic>
        <p:nvPicPr>
          <p:cNvPr id="4" name="Image 0" descr="preencoded.png"/>
          <p:cNvPicPr>
            <a:picLocks noChangeAspect="1"/>
          </p:cNvPicPr>
          <p:nvPr/>
        </p:nvPicPr>
        <p:blipFill>
          <a:blip r:embed="rId3"/>
          <a:stretch>
            <a:fillRect/>
          </a:stretch>
        </p:blipFill>
        <p:spPr>
          <a:xfrm>
            <a:off x="2031652" y="1718469"/>
            <a:ext cx="8128293" cy="3505200"/>
          </a:xfrm>
          <a:prstGeom prst="rect">
            <a:avLst/>
          </a:prstGeom>
        </p:spPr>
      </p:pic>
      <p:sp>
        <p:nvSpPr>
          <p:cNvPr id="5" name="Text 2"/>
          <p:cNvSpPr/>
          <p:nvPr/>
        </p:nvSpPr>
        <p:spPr>
          <a:xfrm>
            <a:off x="2578596" y="4552805"/>
            <a:ext cx="1940979" cy="24267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Sora SemiBold" pitchFamily="34" charset="0"/>
                <a:ea typeface="Sora SemiBold" pitchFamily="34" charset="-122"/>
                <a:cs typeface="Sora SemiBold" pitchFamily="34" charset="-120"/>
              </a:rPr>
              <a:t>Units Sold</a:t>
            </a:r>
            <a:endParaRPr lang="en-US" sz="1500" dirty="0"/>
          </a:p>
        </p:txBody>
      </p:sp>
      <p:sp>
        <p:nvSpPr>
          <p:cNvPr id="6" name="Text 3"/>
          <p:cNvSpPr/>
          <p:nvPr/>
        </p:nvSpPr>
        <p:spPr>
          <a:xfrm>
            <a:off x="2578596" y="3741407"/>
            <a:ext cx="1940979" cy="242677"/>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Sora SemiBold" pitchFamily="34" charset="0"/>
                <a:ea typeface="Sora SemiBold" pitchFamily="34" charset="-122"/>
                <a:cs typeface="Sora SemiBold" pitchFamily="34" charset="-120"/>
              </a:rPr>
              <a:t>Region</a:t>
            </a:r>
            <a:endParaRPr lang="en-US" sz="1500" dirty="0"/>
          </a:p>
        </p:txBody>
      </p:sp>
      <p:sp>
        <p:nvSpPr>
          <p:cNvPr id="7" name="Text 4"/>
          <p:cNvSpPr/>
          <p:nvPr/>
        </p:nvSpPr>
        <p:spPr>
          <a:xfrm>
            <a:off x="2578596" y="2938206"/>
            <a:ext cx="1940979" cy="24267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Sora SemiBold" pitchFamily="34" charset="0"/>
                <a:ea typeface="Sora SemiBold" pitchFamily="34" charset="-122"/>
                <a:cs typeface="Sora SemiBold" pitchFamily="34" charset="-120"/>
              </a:rPr>
              <a:t>Sales Channel</a:t>
            </a:r>
            <a:endParaRPr lang="en-US" sz="1500" dirty="0"/>
          </a:p>
        </p:txBody>
      </p:sp>
      <p:sp>
        <p:nvSpPr>
          <p:cNvPr id="8" name="Text 5"/>
          <p:cNvSpPr/>
          <p:nvPr/>
        </p:nvSpPr>
        <p:spPr>
          <a:xfrm>
            <a:off x="2578596" y="2126809"/>
            <a:ext cx="1940979" cy="24267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Sora SemiBold" pitchFamily="34" charset="0"/>
                <a:ea typeface="Sora SemiBold" pitchFamily="34" charset="-122"/>
                <a:cs typeface="Sora SemiBold" pitchFamily="34" charset="-120"/>
              </a:rPr>
              <a:t>Product</a:t>
            </a:r>
            <a:endParaRPr lang="en-US" sz="1500" dirty="0"/>
          </a:p>
        </p:txBody>
      </p:sp>
      <p:sp>
        <p:nvSpPr>
          <p:cNvPr id="9" name="Text 6"/>
          <p:cNvSpPr/>
          <p:nvPr/>
        </p:nvSpPr>
        <p:spPr>
          <a:xfrm>
            <a:off x="631908" y="5337870"/>
            <a:ext cx="11537463" cy="189607"/>
          </a:xfrm>
          <a:prstGeom prst="rect">
            <a:avLst/>
          </a:prstGeom>
          <a:noFill/>
          <a:ln/>
        </p:spPr>
        <p:txBody>
          <a:bodyPr wrap="none" lIns="0" tIns="0" rIns="0" bIns="0" rtlCol="0" anchor="t"/>
          <a:lstStyle/>
          <a:p>
            <a:pPr marL="0" indent="0" algn="l">
              <a:lnSpc>
                <a:spcPct val="117000"/>
              </a:lnSpc>
              <a:buNone/>
            </a:pPr>
            <a:r>
              <a:rPr lang="en-US" sz="1050" dirty="0">
                <a:solidFill>
                  <a:srgbClr val="3B3535"/>
                </a:solidFill>
                <a:latin typeface="Sora Light" pitchFamily="34" charset="0"/>
                <a:ea typeface="Sora Light" pitchFamily="34" charset="-122"/>
                <a:cs typeface="Sora Light" pitchFamily="34" charset="-120"/>
              </a:rPr>
              <a:t>This granular detail is what allows the forecasting engine to learn the true patterns in your business.</a:t>
            </a:r>
            <a:endParaRPr lang="en-US" sz="1050" dirty="0"/>
          </a:p>
        </p:txBody>
      </p:sp>
      <p:sp>
        <p:nvSpPr>
          <p:cNvPr id="10" name="Shape 7"/>
          <p:cNvSpPr/>
          <p:nvPr/>
        </p:nvSpPr>
        <p:spPr>
          <a:xfrm>
            <a:off x="631908" y="5641677"/>
            <a:ext cx="10927878" cy="450155"/>
          </a:xfrm>
          <a:prstGeom prst="roundRect">
            <a:avLst>
              <a:gd name="adj" fmla="val 12634"/>
            </a:avLst>
          </a:prstGeom>
          <a:solidFill>
            <a:srgbClr val="F9D2D6"/>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767239" y="5785545"/>
            <a:ext cx="169263" cy="135334"/>
          </a:xfrm>
          <a:prstGeom prst="rect">
            <a:avLst/>
          </a:prstGeom>
        </p:spPr>
      </p:pic>
      <p:sp>
        <p:nvSpPr>
          <p:cNvPr id="12" name="Text 8"/>
          <p:cNvSpPr/>
          <p:nvPr/>
        </p:nvSpPr>
        <p:spPr>
          <a:xfrm>
            <a:off x="1071833" y="5777012"/>
            <a:ext cx="10962207" cy="189607"/>
          </a:xfrm>
          <a:prstGeom prst="rect">
            <a:avLst/>
          </a:prstGeom>
          <a:noFill/>
          <a:ln/>
        </p:spPr>
        <p:txBody>
          <a:bodyPr wrap="none" lIns="0" tIns="0" rIns="0" bIns="0" rtlCol="0" anchor="t"/>
          <a:lstStyle/>
          <a:p>
            <a:pPr marL="0" indent="0" algn="l">
              <a:lnSpc>
                <a:spcPct val="117000"/>
              </a:lnSpc>
              <a:buNone/>
            </a:pPr>
            <a:r>
              <a:rPr lang="en-US" sz="1050" b="1" i="1" dirty="0">
                <a:solidFill>
                  <a:srgbClr val="000000"/>
                </a:solidFill>
                <a:latin typeface="Sora Bold" pitchFamily="34" charset="0"/>
                <a:ea typeface="Sora Bold" pitchFamily="34" charset="-122"/>
                <a:cs typeface="Sora Bold" pitchFamily="34" charset="-120"/>
              </a:rPr>
              <a:t>Technical Note:</a:t>
            </a:r>
            <a:r>
              <a:rPr lang="en-US" sz="1050" i="1" dirty="0">
                <a:solidFill>
                  <a:srgbClr val="000000"/>
                </a:solidFill>
                <a:latin typeface="Sora Light" pitchFamily="34" charset="0"/>
                <a:ea typeface="Sora Light" pitchFamily="34" charset="-122"/>
                <a:cs typeface="Sora Light" pitchFamily="34" charset="-120"/>
              </a:rPr>
              <a:t> Grain confirmed unique at date + SKU + channel + region. Category, brand, and segment fixed per SKU; pack type varies as expected.</a:t>
            </a:r>
            <a:endParaRPr lang="en-US" sz="1050" dirty="0"/>
          </a:p>
        </p:txBody>
      </p:sp>
      <p:sp>
        <p:nvSpPr>
          <p:cNvPr id="14" name="Rectangle: Rounded Corners 13">
            <a:extLst>
              <a:ext uri="{FF2B5EF4-FFF2-40B4-BE49-F238E27FC236}">
                <a16:creationId xmlns:a16="http://schemas.microsoft.com/office/drawing/2014/main" id="{5EA66726-627D-DDBD-CDD7-F200D9CCA3CD}"/>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9" name="Shape 6"/>
          <p:cNvSpPr/>
          <p:nvPr/>
        </p:nvSpPr>
        <p:spPr>
          <a:xfrm>
            <a:off x="8177914" y="3772775"/>
            <a:ext cx="3269086" cy="2455364"/>
          </a:xfrm>
          <a:prstGeom prst="roundRect">
            <a:avLst>
              <a:gd name="adj" fmla="val 6942"/>
            </a:avLst>
          </a:prstGeom>
          <a:solidFill>
            <a:srgbClr val="F9D2D6"/>
          </a:solidFill>
          <a:ln/>
        </p:spPr>
        <p:txBody>
          <a:bodyPr/>
          <a:lstStyle/>
          <a:p>
            <a:endParaRPr lang="en-US"/>
          </a:p>
        </p:txBody>
      </p:sp>
      <p:sp>
        <p:nvSpPr>
          <p:cNvPr id="2" name="Text 0"/>
          <p:cNvSpPr/>
          <p:nvPr/>
        </p:nvSpPr>
        <p:spPr>
          <a:xfrm>
            <a:off x="631908" y="653256"/>
            <a:ext cx="10927878" cy="445492"/>
          </a:xfrm>
          <a:prstGeom prst="rect">
            <a:avLst/>
          </a:prstGeom>
          <a:noFill/>
          <a:ln/>
        </p:spPr>
        <p:txBody>
          <a:bodyPr wrap="none" lIns="0" tIns="0" rIns="0" bIns="0" rtlCol="0" anchor="t"/>
          <a:lstStyle/>
          <a:p>
            <a:pPr marL="0" indent="0" algn="l">
              <a:lnSpc>
                <a:spcPct val="104000"/>
              </a:lnSpc>
              <a:buNone/>
            </a:pPr>
            <a:r>
              <a:rPr lang="en-US" sz="2800" dirty="0">
                <a:solidFill>
                  <a:srgbClr val="1F1E1E"/>
                </a:solidFill>
                <a:latin typeface="Sora SemiBold" pitchFamily="34" charset="0"/>
                <a:ea typeface="Sora SemiBold" pitchFamily="34" charset="-122"/>
                <a:cs typeface="Sora SemiBold" pitchFamily="34" charset="-120"/>
              </a:rPr>
              <a:t>What Actually Drives Sales</a:t>
            </a:r>
            <a:endParaRPr lang="en-US" sz="2800" dirty="0"/>
          </a:p>
        </p:txBody>
      </p:sp>
      <p:sp>
        <p:nvSpPr>
          <p:cNvPr id="3" name="Text 1"/>
          <p:cNvSpPr/>
          <p:nvPr/>
        </p:nvSpPr>
        <p:spPr>
          <a:xfrm>
            <a:off x="631908" y="1364517"/>
            <a:ext cx="5861598" cy="222746"/>
          </a:xfrm>
          <a:prstGeom prst="rect">
            <a:avLst/>
          </a:prstGeom>
          <a:noFill/>
          <a:ln/>
        </p:spPr>
        <p:txBody>
          <a:bodyPr wrap="none" lIns="0" tIns="0" rIns="0" bIns="0" rtlCol="0" anchor="t"/>
          <a:lstStyle/>
          <a:p>
            <a:pPr marL="0" indent="0" algn="l">
              <a:lnSpc>
                <a:spcPct val="104000"/>
              </a:lnSpc>
              <a:buNone/>
            </a:pPr>
            <a:r>
              <a:rPr lang="en-US" sz="1400" dirty="0">
                <a:solidFill>
                  <a:srgbClr val="DA1B2E"/>
                </a:solidFill>
                <a:latin typeface="Sora SemiBold" pitchFamily="34" charset="0"/>
                <a:ea typeface="Sora SemiBold" pitchFamily="34" charset="-122"/>
                <a:cs typeface="Sora SemiBold" pitchFamily="34" charset="-120"/>
              </a:rPr>
              <a:t>Promotions Nearly Double Daily Sales</a:t>
            </a:r>
            <a:endParaRPr lang="en-US" sz="1400" dirty="0"/>
          </a:p>
        </p:txBody>
      </p:sp>
      <p:sp>
        <p:nvSpPr>
          <p:cNvPr id="4" name="Text 2"/>
          <p:cNvSpPr/>
          <p:nvPr/>
        </p:nvSpPr>
        <p:spPr>
          <a:xfrm>
            <a:off x="631908" y="1930072"/>
            <a:ext cx="10927878" cy="1039416"/>
          </a:xfrm>
          <a:prstGeom prst="rect">
            <a:avLst/>
          </a:prstGeom>
          <a:noFill/>
          <a:ln/>
        </p:spPr>
        <p:txBody>
          <a:bodyPr wrap="square" lIns="0" tIns="0" rIns="0" bIns="0" rtlCol="0" anchor="t">
            <a:normAutofit/>
          </a:bodyPr>
          <a:lstStyle/>
          <a:p>
            <a:pPr marL="0" indent="0" algn="l">
              <a:lnSpc>
                <a:spcPct val="117000"/>
              </a:lnSpc>
              <a:spcAft>
                <a:spcPts val="700"/>
              </a:spcAft>
              <a:buNone/>
            </a:pPr>
            <a:r>
              <a:rPr lang="en-US" sz="1200" dirty="0">
                <a:solidFill>
                  <a:srgbClr val="3B3535"/>
                </a:solidFill>
                <a:latin typeface="Sora Light" pitchFamily="34" charset="0"/>
                <a:ea typeface="Sora Light" pitchFamily="34" charset="-122"/>
                <a:cs typeface="Sora Light" pitchFamily="34" charset="-120"/>
              </a:rPr>
              <a:t>On days with an active promotion, average sales jump from about </a:t>
            </a:r>
            <a:r>
              <a:rPr lang="en-US" sz="1200" b="1" dirty="0">
                <a:solidFill>
                  <a:srgbClr val="3B3535"/>
                </a:solidFill>
                <a:latin typeface="Sora Bold" pitchFamily="34" charset="0"/>
                <a:ea typeface="Sora Bold" pitchFamily="34" charset="-122"/>
                <a:cs typeface="Sora Bold" pitchFamily="34" charset="-120"/>
              </a:rPr>
              <a:t>17 units</a:t>
            </a:r>
            <a:r>
              <a:rPr lang="en-US" sz="1200" dirty="0">
                <a:solidFill>
                  <a:srgbClr val="3B3535"/>
                </a:solidFill>
                <a:latin typeface="Sora Light" pitchFamily="34" charset="0"/>
                <a:ea typeface="Sora Light" pitchFamily="34" charset="-122"/>
                <a:cs typeface="Sora Light" pitchFamily="34" charset="-120"/>
              </a:rPr>
              <a:t> to about </a:t>
            </a:r>
            <a:r>
              <a:rPr lang="en-US" sz="1200" b="1" dirty="0">
                <a:solidFill>
                  <a:srgbClr val="3B3535"/>
                </a:solidFill>
                <a:latin typeface="Sora Bold" pitchFamily="34" charset="0"/>
                <a:ea typeface="Sora Bold" pitchFamily="34" charset="-122"/>
                <a:cs typeface="Sora Bold" pitchFamily="34" charset="-120"/>
              </a:rPr>
              <a:t>34 units</a:t>
            </a:r>
            <a:r>
              <a:rPr lang="en-US" sz="1200" dirty="0">
                <a:solidFill>
                  <a:srgbClr val="3B3535"/>
                </a:solidFill>
                <a:latin typeface="Sora Light" pitchFamily="34" charset="0"/>
                <a:ea typeface="Sora Light" pitchFamily="34" charset="-122"/>
                <a:cs typeface="Sora Light" pitchFamily="34" charset="-120"/>
              </a:rPr>
              <a:t>. This happens on roughly </a:t>
            </a:r>
            <a:r>
              <a:rPr lang="en-US" sz="1200" b="1" dirty="0">
                <a:solidFill>
                  <a:srgbClr val="3B3535"/>
                </a:solidFill>
                <a:latin typeface="Sora Bold" pitchFamily="34" charset="0"/>
                <a:ea typeface="Sora Bold" pitchFamily="34" charset="-122"/>
                <a:cs typeface="Sora Bold" pitchFamily="34" charset="-120"/>
              </a:rPr>
              <a:t>1 in every 7 days</a:t>
            </a:r>
            <a:r>
              <a:rPr lang="en-US" sz="1200" dirty="0">
                <a:solidFill>
                  <a:srgbClr val="3B3535"/>
                </a:solidFill>
                <a:latin typeface="Sora Light" pitchFamily="34" charset="0"/>
                <a:ea typeface="Sora Light" pitchFamily="34" charset="-122"/>
                <a:cs typeface="Sora Light" pitchFamily="34" charset="-120"/>
              </a:rPr>
              <a:t>.</a:t>
            </a:r>
            <a:endParaRPr lang="en-US" sz="1200" dirty="0"/>
          </a:p>
          <a:p>
            <a:pPr marL="0" indent="0" algn="l">
              <a:lnSpc>
                <a:spcPct val="117000"/>
              </a:lnSpc>
              <a:buNone/>
            </a:pPr>
            <a:r>
              <a:rPr lang="en-US" sz="1200" dirty="0">
                <a:solidFill>
                  <a:srgbClr val="3B3535"/>
                </a:solidFill>
                <a:latin typeface="Sora Light" pitchFamily="34" charset="0"/>
                <a:ea typeface="Sora Light" pitchFamily="34" charset="-122"/>
                <a:cs typeface="Sora Light" pitchFamily="34" charset="-120"/>
              </a:rPr>
              <a:t>Understanding this pattern means the system can anticipate demand spikes before they happen, so you can prepare stock in advance rather than scrambling to catch up.</a:t>
            </a:r>
            <a:endParaRPr lang="en-US" sz="1200" dirty="0"/>
          </a:p>
        </p:txBody>
      </p:sp>
      <p:sp>
        <p:nvSpPr>
          <p:cNvPr id="6" name="Text 3"/>
          <p:cNvSpPr/>
          <p:nvPr/>
        </p:nvSpPr>
        <p:spPr>
          <a:xfrm>
            <a:off x="2136243" y="6532655"/>
            <a:ext cx="6471183" cy="151606"/>
          </a:xfrm>
          <a:prstGeom prst="rect">
            <a:avLst/>
          </a:prstGeom>
          <a:noFill/>
          <a:ln/>
        </p:spPr>
        <p:txBody>
          <a:bodyPr wrap="none" lIns="0" tIns="0" rIns="0" bIns="0" rtlCol="0" anchor="t"/>
          <a:lstStyle/>
          <a:p>
            <a:pPr marL="0" indent="0" algn="l">
              <a:lnSpc>
                <a:spcPct val="117000"/>
              </a:lnSpc>
              <a:buNone/>
            </a:pPr>
            <a:r>
              <a:rPr lang="en-US" sz="850" i="1" dirty="0">
                <a:solidFill>
                  <a:srgbClr val="3B3535"/>
                </a:solidFill>
                <a:latin typeface="Sora Light" pitchFamily="34" charset="0"/>
                <a:ea typeface="Sora Light" pitchFamily="34" charset="-122"/>
                <a:cs typeface="Sora Light" pitchFamily="34" charset="-120"/>
              </a:rPr>
              <a:t>[Source: Notebook Part 2, Section 2.4]</a:t>
            </a:r>
            <a:endParaRPr lang="en-US" sz="850" dirty="0"/>
          </a:p>
        </p:txBody>
      </p:sp>
      <p:sp>
        <p:nvSpPr>
          <p:cNvPr id="7" name="Text 4"/>
          <p:cNvSpPr/>
          <p:nvPr/>
        </p:nvSpPr>
        <p:spPr>
          <a:xfrm>
            <a:off x="8291273" y="4355922"/>
            <a:ext cx="3042371" cy="1888212"/>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3B3535"/>
                </a:solidFill>
                <a:latin typeface="Sora Light" pitchFamily="34" charset="0"/>
                <a:ea typeface="Sora Light" pitchFamily="34" charset="-122"/>
                <a:cs typeface="Sora Light" pitchFamily="34" charset="-120"/>
              </a:rPr>
              <a:t>A single promotional day moves as much stock as two normal trading days. The forecasting engine accounts for this every time it makes a prediction.</a:t>
            </a:r>
            <a:endParaRPr lang="en-US" sz="1600" dirty="0"/>
          </a:p>
        </p:txBody>
      </p:sp>
      <p:sp>
        <p:nvSpPr>
          <p:cNvPr id="8" name="Shape 5"/>
          <p:cNvSpPr/>
          <p:nvPr/>
        </p:nvSpPr>
        <p:spPr>
          <a:xfrm>
            <a:off x="8177914" y="3705216"/>
            <a:ext cx="3269086" cy="311547"/>
          </a:xfrm>
          <a:prstGeom prst="roundRect">
            <a:avLst>
              <a:gd name="adj" fmla="val 49999"/>
            </a:avLst>
          </a:prstGeom>
          <a:solidFill>
            <a:srgbClr val="DA1B2E"/>
          </a:solidFill>
          <a:ln/>
        </p:spPr>
        <p:txBody>
          <a:bodyPr/>
          <a:lstStyle/>
          <a:p>
            <a:endParaRPr lang="en-US"/>
          </a:p>
        </p:txBody>
      </p:sp>
      <p:sp>
        <p:nvSpPr>
          <p:cNvPr id="13" name="Rectangle: Rounded Corners 12">
            <a:extLst>
              <a:ext uri="{FF2B5EF4-FFF2-40B4-BE49-F238E27FC236}">
                <a16:creationId xmlns:a16="http://schemas.microsoft.com/office/drawing/2014/main" id="{969FCE4D-7A76-A8A0-9582-17EC05ED815A}"/>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ADC363F-77B5-1815-F8B3-8CFB25503E0C}"/>
              </a:ext>
            </a:extLst>
          </p:cNvPr>
          <p:cNvPicPr>
            <a:picLocks noChangeAspect="1"/>
          </p:cNvPicPr>
          <p:nvPr/>
        </p:nvPicPr>
        <p:blipFill>
          <a:blip r:embed="rId3"/>
          <a:stretch>
            <a:fillRect/>
          </a:stretch>
        </p:blipFill>
        <p:spPr>
          <a:xfrm>
            <a:off x="391206" y="2938948"/>
            <a:ext cx="7559993" cy="35141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25460" y="72116"/>
            <a:ext cx="10927878" cy="118784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Your Business Has Grown, and Settled Into a Strong Rhythm</a:t>
            </a:r>
            <a:endParaRPr lang="en-US" sz="3700" dirty="0"/>
          </a:p>
        </p:txBody>
      </p:sp>
      <p:sp>
        <p:nvSpPr>
          <p:cNvPr id="3" name="Text 1"/>
          <p:cNvSpPr/>
          <p:nvPr/>
        </p:nvSpPr>
        <p:spPr>
          <a:xfrm>
            <a:off x="8406646" y="1808295"/>
            <a:ext cx="3146692" cy="2679334"/>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Sales started small in early 2022 and climbed steadily, peaking around mid-2023. Since then, monthly sales have leveled off at a level several times higher than where the business started, a sign of a </a:t>
            </a:r>
            <a:r>
              <a:rPr lang="en-US" sz="1400" b="1" dirty="0">
                <a:solidFill>
                  <a:srgbClr val="3B3535"/>
                </a:solidFill>
                <a:latin typeface="Sora Bold" pitchFamily="34" charset="0"/>
                <a:ea typeface="Sora Bold" pitchFamily="34" charset="-122"/>
                <a:cs typeface="Sora Bold" pitchFamily="34" charset="-120"/>
              </a:rPr>
              <a:t>maturing, stable operation.</a:t>
            </a:r>
            <a:endParaRPr lang="en-US" sz="1400" dirty="0"/>
          </a:p>
        </p:txBody>
      </p:sp>
      <p:sp>
        <p:nvSpPr>
          <p:cNvPr id="4" name="Text 2"/>
          <p:cNvSpPr/>
          <p:nvPr/>
        </p:nvSpPr>
        <p:spPr>
          <a:xfrm>
            <a:off x="940388" y="5035961"/>
            <a:ext cx="11537463" cy="231080"/>
          </a:xfrm>
          <a:prstGeom prst="rect">
            <a:avLst/>
          </a:prstGeom>
          <a:noFill/>
          <a:ln/>
        </p:spPr>
        <p:txBody>
          <a:bodyPr wrap="none" lIns="0" tIns="0" rIns="0" bIns="0" rtlCol="0" anchor="t"/>
          <a:lstStyle/>
          <a:p>
            <a:pPr marL="0" indent="0" algn="l">
              <a:lnSpc>
                <a:spcPct val="133000"/>
              </a:lnSpc>
              <a:buNone/>
            </a:pPr>
            <a:r>
              <a:rPr lang="en-US" sz="1100" i="1" dirty="0">
                <a:solidFill>
                  <a:srgbClr val="3B3535"/>
                </a:solidFill>
                <a:latin typeface="Sora Light" pitchFamily="34" charset="0"/>
                <a:ea typeface="Sora Light" pitchFamily="34" charset="-122"/>
                <a:cs typeface="Sora Light" pitchFamily="34" charset="-120"/>
              </a:rPr>
              <a:t>Source: Notebook Part 2, Section 2.3 — Monthly units sold over time, showing growth phase and plateau]</a:t>
            </a:r>
            <a:endParaRPr lang="en-US" sz="1100" dirty="0"/>
          </a:p>
        </p:txBody>
      </p:sp>
      <p:grpSp>
        <p:nvGrpSpPr>
          <p:cNvPr id="24" name="Group 23">
            <a:extLst>
              <a:ext uri="{FF2B5EF4-FFF2-40B4-BE49-F238E27FC236}">
                <a16:creationId xmlns:a16="http://schemas.microsoft.com/office/drawing/2014/main" id="{0E73B13F-A093-084E-D113-12B384DD1DA9}"/>
              </a:ext>
            </a:extLst>
          </p:cNvPr>
          <p:cNvGrpSpPr/>
          <p:nvPr/>
        </p:nvGrpSpPr>
        <p:grpSpPr>
          <a:xfrm>
            <a:off x="182848" y="5326426"/>
            <a:ext cx="10915080" cy="1343918"/>
            <a:chOff x="638258" y="3676551"/>
            <a:chExt cx="10915080" cy="1343918"/>
          </a:xfrm>
        </p:grpSpPr>
        <p:sp>
          <p:nvSpPr>
            <p:cNvPr id="6" name="Shape 4"/>
            <p:cNvSpPr/>
            <p:nvPr/>
          </p:nvSpPr>
          <p:spPr>
            <a:xfrm>
              <a:off x="638258" y="3676551"/>
              <a:ext cx="3638360" cy="1343918"/>
            </a:xfrm>
            <a:custGeom>
              <a:avLst/>
              <a:gdLst/>
              <a:ahLst/>
              <a:cxnLst/>
              <a:rect l="l" t="t" r="r" b="b"/>
              <a:pathLst>
                <a:path w="3638360" h="1343918">
                  <a:moveTo>
                    <a:pt x="63192" y="0"/>
                  </a:moveTo>
                  <a:lnTo>
                    <a:pt x="3638360" y="0"/>
                  </a:lnTo>
                  <a:lnTo>
                    <a:pt x="3638360" y="1343918"/>
                  </a:lnTo>
                  <a:lnTo>
                    <a:pt x="63192" y="1343918"/>
                  </a:lnTo>
                  <a:arcTo wR="63192" hR="63193" stAng="5400000" swAng="5400000"/>
                  <a:lnTo>
                    <a:pt x="0" y="63193"/>
                  </a:lnTo>
                  <a:arcTo wR="63192" hR="63193" stAng="10800000" swAng="5400000"/>
                  <a:close/>
                </a:path>
              </a:pathLst>
            </a:custGeom>
            <a:solidFill>
              <a:srgbClr val="F9D2D6"/>
            </a:solidFill>
            <a:ln/>
          </p:spPr>
          <p:txBody>
            <a:bodyPr/>
            <a:lstStyle/>
            <a:p>
              <a:endParaRPr lang="en-US"/>
            </a:p>
          </p:txBody>
        </p:sp>
        <p:sp>
          <p:nvSpPr>
            <p:cNvPr id="7" name="Text 5"/>
            <p:cNvSpPr/>
            <p:nvPr/>
          </p:nvSpPr>
          <p:spPr>
            <a:xfrm>
              <a:off x="818733" y="3857030"/>
              <a:ext cx="3277411"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Early 2022</a:t>
              </a:r>
              <a:endParaRPr lang="en-US" sz="1850" dirty="0"/>
            </a:p>
          </p:txBody>
        </p:sp>
        <p:sp>
          <p:nvSpPr>
            <p:cNvPr id="8" name="Text 6"/>
            <p:cNvSpPr/>
            <p:nvPr/>
          </p:nvSpPr>
          <p:spPr>
            <a:xfrm>
              <a:off x="818733" y="4262140"/>
              <a:ext cx="3277411" cy="288925"/>
            </a:xfrm>
            <a:prstGeom prst="rect">
              <a:avLst/>
            </a:prstGeom>
            <a:noFill/>
            <a:ln/>
          </p:spPr>
          <p:txBody>
            <a:bodyPr wrap="none" lIns="0" tIns="0" rIns="0" bIns="0" rtlCol="0" anchor="t"/>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Low baseline, business ramping up</a:t>
              </a:r>
              <a:endParaRPr lang="en-US" sz="1400" dirty="0"/>
            </a:p>
          </p:txBody>
        </p:sp>
        <p:sp>
          <p:nvSpPr>
            <p:cNvPr id="9" name="Shape 7"/>
            <p:cNvSpPr/>
            <p:nvPr/>
          </p:nvSpPr>
          <p:spPr>
            <a:xfrm>
              <a:off x="4276618" y="3676551"/>
              <a:ext cx="3638360" cy="1343918"/>
            </a:xfrm>
            <a:prstGeom prst="rect">
              <a:avLst/>
            </a:prstGeom>
            <a:solidFill>
              <a:srgbClr val="F9D2D6"/>
            </a:solidFill>
            <a:ln/>
          </p:spPr>
          <p:txBody>
            <a:bodyPr/>
            <a:lstStyle/>
            <a:p>
              <a:endParaRPr lang="en-US"/>
            </a:p>
          </p:txBody>
        </p:sp>
        <p:sp>
          <p:nvSpPr>
            <p:cNvPr id="11" name="Text 9"/>
            <p:cNvSpPr/>
            <p:nvPr/>
          </p:nvSpPr>
          <p:spPr>
            <a:xfrm>
              <a:off x="4457092" y="3857030"/>
              <a:ext cx="3277411"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Mid-2023 Peak</a:t>
              </a:r>
              <a:endParaRPr lang="en-US" sz="1850" dirty="0"/>
            </a:p>
          </p:txBody>
        </p:sp>
        <p:sp>
          <p:nvSpPr>
            <p:cNvPr id="12" name="Text 10"/>
            <p:cNvSpPr/>
            <p:nvPr/>
          </p:nvSpPr>
          <p:spPr>
            <a:xfrm>
              <a:off x="4457092" y="4262140"/>
              <a:ext cx="3277411" cy="288925"/>
            </a:xfrm>
            <a:prstGeom prst="rect">
              <a:avLst/>
            </a:prstGeom>
            <a:noFill/>
            <a:ln/>
          </p:spPr>
          <p:txBody>
            <a:bodyPr wrap="none" lIns="0" tIns="0" rIns="0" bIns="0" rtlCol="0" anchor="t"/>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Highest recorded monthly volume</a:t>
              </a:r>
              <a:endParaRPr lang="en-US" sz="1400" dirty="0"/>
            </a:p>
          </p:txBody>
        </p:sp>
        <p:sp>
          <p:nvSpPr>
            <p:cNvPr id="13" name="Shape 11"/>
            <p:cNvSpPr/>
            <p:nvPr/>
          </p:nvSpPr>
          <p:spPr>
            <a:xfrm>
              <a:off x="7914978" y="3676551"/>
              <a:ext cx="3638360" cy="1343918"/>
            </a:xfrm>
            <a:custGeom>
              <a:avLst/>
              <a:gdLst/>
              <a:ahLst/>
              <a:cxnLst/>
              <a:rect l="l" t="t" r="r" b="b"/>
              <a:pathLst>
                <a:path w="3638360" h="1343918">
                  <a:moveTo>
                    <a:pt x="0" y="0"/>
                  </a:moveTo>
                  <a:lnTo>
                    <a:pt x="3575168" y="0"/>
                  </a:lnTo>
                  <a:arcTo wR="63192" hR="63193" stAng="16200000" swAng="5400000"/>
                  <a:lnTo>
                    <a:pt x="3638360" y="1280725"/>
                  </a:lnTo>
                  <a:arcTo wR="63192" hR="63193" stAng="0" swAng="5400000"/>
                  <a:lnTo>
                    <a:pt x="0" y="1343918"/>
                  </a:lnTo>
                  <a:lnTo>
                    <a:pt x="0" y="0"/>
                  </a:lnTo>
                  <a:close/>
                </a:path>
              </a:pathLst>
            </a:custGeom>
            <a:solidFill>
              <a:srgbClr val="F9D2D6"/>
            </a:solidFill>
            <a:ln/>
          </p:spPr>
          <p:txBody>
            <a:bodyPr/>
            <a:lstStyle/>
            <a:p>
              <a:endParaRPr lang="en-US"/>
            </a:p>
          </p:txBody>
        </p:sp>
        <p:sp>
          <p:nvSpPr>
            <p:cNvPr id="15" name="Text 13"/>
            <p:cNvSpPr/>
            <p:nvPr/>
          </p:nvSpPr>
          <p:spPr>
            <a:xfrm>
              <a:off x="8095452" y="3857030"/>
              <a:ext cx="3277411"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2023–2024 Plateau</a:t>
              </a:r>
              <a:endParaRPr lang="en-US" sz="1850" dirty="0"/>
            </a:p>
          </p:txBody>
        </p:sp>
        <p:sp>
          <p:nvSpPr>
            <p:cNvPr id="16" name="Text 14"/>
            <p:cNvSpPr/>
            <p:nvPr/>
          </p:nvSpPr>
          <p:spPr>
            <a:xfrm>
              <a:off x="8095452" y="4262140"/>
              <a:ext cx="3277411" cy="5778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Stable, mature demand — ideal for forecasting</a:t>
              </a:r>
              <a:endParaRPr lang="en-US" sz="1400" dirty="0"/>
            </a:p>
          </p:txBody>
        </p:sp>
      </p:grpSp>
      <p:sp>
        <p:nvSpPr>
          <p:cNvPr id="21" name="Rectangle: Rounded Corners 20">
            <a:extLst>
              <a:ext uri="{FF2B5EF4-FFF2-40B4-BE49-F238E27FC236}">
                <a16:creationId xmlns:a16="http://schemas.microsoft.com/office/drawing/2014/main" id="{993A0FA5-FE6D-0D9E-7CCE-D15FA4446E74}"/>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6B286281-067D-9431-C4AF-8FC931968E1E}"/>
              </a:ext>
            </a:extLst>
          </p:cNvPr>
          <p:cNvPicPr>
            <a:picLocks noChangeAspect="1"/>
          </p:cNvPicPr>
          <p:nvPr/>
        </p:nvPicPr>
        <p:blipFill>
          <a:blip r:embed="rId3"/>
          <a:stretch>
            <a:fillRect/>
          </a:stretch>
        </p:blipFill>
        <p:spPr>
          <a:xfrm>
            <a:off x="565585" y="1368210"/>
            <a:ext cx="7543071" cy="36955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498078"/>
            <a:ext cx="10927878" cy="1187847"/>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We Checked Our Own Work — and Found a Problem Worth Fixing</a:t>
            </a:r>
            <a:endParaRPr lang="en-US" sz="3700" dirty="0"/>
          </a:p>
        </p:txBody>
      </p:sp>
      <p:sp>
        <p:nvSpPr>
          <p:cNvPr id="3" name="Shape 1"/>
          <p:cNvSpPr/>
          <p:nvPr/>
        </p:nvSpPr>
        <p:spPr>
          <a:xfrm>
            <a:off x="631908" y="2046982"/>
            <a:ext cx="406191" cy="406202"/>
          </a:xfrm>
          <a:prstGeom prst="roundRect">
            <a:avLst>
              <a:gd name="adj" fmla="val 18669"/>
            </a:avLst>
          </a:prstGeom>
          <a:solidFill>
            <a:srgbClr val="F9D2D6"/>
          </a:solidFill>
          <a:ln w="6350">
            <a:solidFill>
              <a:srgbClr val="DFB8BC"/>
            </a:solidFill>
            <a:prstDash val="solid"/>
          </a:ln>
        </p:spPr>
        <p:txBody>
          <a:bodyPr/>
          <a:lstStyle/>
          <a:p>
            <a:endParaRPr lang="en-US"/>
          </a:p>
        </p:txBody>
      </p:sp>
      <p:sp>
        <p:nvSpPr>
          <p:cNvPr id="4" name="Text 2"/>
          <p:cNvSpPr/>
          <p:nvPr/>
        </p:nvSpPr>
        <p:spPr>
          <a:xfrm>
            <a:off x="692480" y="2071936"/>
            <a:ext cx="285048" cy="356295"/>
          </a:xfrm>
          <a:prstGeom prst="rect">
            <a:avLst/>
          </a:prstGeom>
          <a:noFill/>
          <a:ln/>
        </p:spPr>
        <p:txBody>
          <a:bodyPr wrap="none" lIns="0" tIns="0" rIns="0" bIns="0" rtlCol="0" anchor="ctr"/>
          <a:lstStyle/>
          <a:p>
            <a:pPr marL="0" indent="0" algn="ctr">
              <a:lnSpc>
                <a:spcPct val="100000"/>
              </a:lnSpc>
              <a:buNone/>
            </a:pPr>
            <a:r>
              <a:rPr lang="en-US" sz="2200" dirty="0">
                <a:solidFill>
                  <a:srgbClr val="3B3535"/>
                </a:solidFill>
                <a:latin typeface="Sora SemiBold" pitchFamily="34" charset="0"/>
                <a:ea typeface="Sora SemiBold" pitchFamily="34" charset="-122"/>
                <a:cs typeface="Sora SemiBold" pitchFamily="34" charset="-120"/>
              </a:rPr>
              <a:t>1</a:t>
            </a:r>
            <a:endParaRPr lang="en-US" sz="2200" dirty="0"/>
          </a:p>
        </p:txBody>
      </p:sp>
      <p:sp>
        <p:nvSpPr>
          <p:cNvPr id="5" name="Text 3"/>
          <p:cNvSpPr/>
          <p:nvPr/>
        </p:nvSpPr>
        <p:spPr>
          <a:xfrm>
            <a:off x="1218574" y="2108994"/>
            <a:ext cx="2905548"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Found It</a:t>
            </a:r>
            <a:endParaRPr lang="en-US" sz="1850" dirty="0"/>
          </a:p>
        </p:txBody>
      </p:sp>
      <p:sp>
        <p:nvSpPr>
          <p:cNvPr id="6" name="Text 4"/>
          <p:cNvSpPr/>
          <p:nvPr/>
        </p:nvSpPr>
        <p:spPr>
          <a:xfrm>
            <a:off x="1218574" y="2514104"/>
            <a:ext cx="2905548" cy="17335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While building the forecasting features, we noticed some calendar days were missing from the sales records, for </a:t>
            </a:r>
            <a:r>
              <a:rPr lang="en-US" sz="1400" b="1" dirty="0">
                <a:solidFill>
                  <a:srgbClr val="3B3535"/>
                </a:solidFill>
                <a:latin typeface="Sora Bold" pitchFamily="34" charset="0"/>
                <a:ea typeface="Sora Bold" pitchFamily="34" charset="-122"/>
                <a:cs typeface="Sora Bold" pitchFamily="34" charset="-120"/>
              </a:rPr>
              <a:t>every single product line</a:t>
            </a:r>
            <a:r>
              <a:rPr lang="en-US" sz="1400" dirty="0">
                <a:solidFill>
                  <a:srgbClr val="3B3535"/>
                </a:solidFill>
                <a:latin typeface="Sora Light" pitchFamily="34" charset="0"/>
                <a:ea typeface="Sora Light" pitchFamily="34" charset="-122"/>
                <a:cs typeface="Sora Light" pitchFamily="34" charset="-120"/>
              </a:rPr>
              <a:t>,.</a:t>
            </a:r>
            <a:endParaRPr lang="en-US" sz="1400" dirty="0"/>
          </a:p>
        </p:txBody>
      </p:sp>
      <p:sp>
        <p:nvSpPr>
          <p:cNvPr id="7" name="Shape 5"/>
          <p:cNvSpPr/>
          <p:nvPr/>
        </p:nvSpPr>
        <p:spPr>
          <a:xfrm>
            <a:off x="4349740" y="2046982"/>
            <a:ext cx="406191" cy="406202"/>
          </a:xfrm>
          <a:prstGeom prst="roundRect">
            <a:avLst>
              <a:gd name="adj" fmla="val 18669"/>
            </a:avLst>
          </a:prstGeom>
          <a:solidFill>
            <a:srgbClr val="F9D2D6"/>
          </a:solidFill>
          <a:ln w="6350">
            <a:solidFill>
              <a:srgbClr val="DFB8BC"/>
            </a:solidFill>
            <a:prstDash val="solid"/>
          </a:ln>
        </p:spPr>
        <p:txBody>
          <a:bodyPr/>
          <a:lstStyle/>
          <a:p>
            <a:endParaRPr lang="en-US"/>
          </a:p>
        </p:txBody>
      </p:sp>
      <p:sp>
        <p:nvSpPr>
          <p:cNvPr id="8" name="Text 6"/>
          <p:cNvSpPr/>
          <p:nvPr/>
        </p:nvSpPr>
        <p:spPr>
          <a:xfrm>
            <a:off x="4410312" y="2071936"/>
            <a:ext cx="285048" cy="356295"/>
          </a:xfrm>
          <a:prstGeom prst="rect">
            <a:avLst/>
          </a:prstGeom>
          <a:noFill/>
          <a:ln/>
        </p:spPr>
        <p:txBody>
          <a:bodyPr wrap="none" lIns="0" tIns="0" rIns="0" bIns="0" rtlCol="0" anchor="ctr"/>
          <a:lstStyle/>
          <a:p>
            <a:pPr marL="0" indent="0" algn="ctr">
              <a:lnSpc>
                <a:spcPct val="100000"/>
              </a:lnSpc>
              <a:buNone/>
            </a:pPr>
            <a:r>
              <a:rPr lang="en-US" sz="2200" dirty="0">
                <a:solidFill>
                  <a:srgbClr val="3B3535"/>
                </a:solidFill>
                <a:latin typeface="Sora SemiBold" pitchFamily="34" charset="0"/>
                <a:ea typeface="Sora SemiBold" pitchFamily="34" charset="-122"/>
                <a:cs typeface="Sora SemiBold" pitchFamily="34" charset="-120"/>
              </a:rPr>
              <a:t>2</a:t>
            </a:r>
            <a:endParaRPr lang="en-US" sz="2200" dirty="0"/>
          </a:p>
        </p:txBody>
      </p:sp>
      <p:sp>
        <p:nvSpPr>
          <p:cNvPr id="9" name="Text 7"/>
          <p:cNvSpPr/>
          <p:nvPr/>
        </p:nvSpPr>
        <p:spPr>
          <a:xfrm>
            <a:off x="4936406" y="2108994"/>
            <a:ext cx="2905548"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Investigated It</a:t>
            </a:r>
            <a:endParaRPr lang="en-US" sz="1850" dirty="0"/>
          </a:p>
        </p:txBody>
      </p:sp>
      <p:sp>
        <p:nvSpPr>
          <p:cNvPr id="10" name="Text 8"/>
          <p:cNvSpPr/>
          <p:nvPr/>
        </p:nvSpPr>
        <p:spPr>
          <a:xfrm>
            <a:off x="4936406" y="2514104"/>
            <a:ext cx="2905548" cy="144462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We confirmed this affected all </a:t>
            </a:r>
            <a:r>
              <a:rPr lang="en-US" sz="1400" b="1" dirty="0">
                <a:solidFill>
                  <a:srgbClr val="3B3535"/>
                </a:solidFill>
                <a:latin typeface="Sora Bold" pitchFamily="34" charset="0"/>
                <a:ea typeface="Sora Bold" pitchFamily="34" charset="-122"/>
                <a:cs typeface="Sora Bold" pitchFamily="34" charset="-120"/>
              </a:rPr>
              <a:t>270 product, channel, and region combinations</a:t>
            </a:r>
            <a:r>
              <a:rPr lang="en-US" sz="1400" dirty="0">
                <a:solidFill>
                  <a:srgbClr val="3B3535"/>
                </a:solidFill>
                <a:latin typeface="Sora Light" pitchFamily="34" charset="0"/>
                <a:ea typeface="Sora Light" pitchFamily="34" charset="-122"/>
                <a:cs typeface="Sora Light" pitchFamily="34" charset="-120"/>
              </a:rPr>
              <a:t>, averaging about </a:t>
            </a:r>
            <a:r>
              <a:rPr lang="en-US" sz="1400" b="1" dirty="0">
                <a:solidFill>
                  <a:srgbClr val="3B3535"/>
                </a:solidFill>
                <a:latin typeface="Sora Bold" pitchFamily="34" charset="0"/>
                <a:ea typeface="Sora Bold" pitchFamily="34" charset="-122"/>
                <a:cs typeface="Sora Bold" pitchFamily="34" charset="-120"/>
              </a:rPr>
              <a:t>15% of days missing</a:t>
            </a:r>
            <a:r>
              <a:rPr lang="en-US" sz="1400" dirty="0">
                <a:solidFill>
                  <a:srgbClr val="3B3535"/>
                </a:solidFill>
                <a:latin typeface="Sora Light" pitchFamily="34" charset="0"/>
                <a:ea typeface="Sora Light" pitchFamily="34" charset="-122"/>
                <a:cs typeface="Sora Light" pitchFamily="34" charset="-120"/>
              </a:rPr>
              <a:t> per line.</a:t>
            </a:r>
            <a:endParaRPr lang="en-US" sz="1400" dirty="0"/>
          </a:p>
        </p:txBody>
      </p:sp>
      <p:sp>
        <p:nvSpPr>
          <p:cNvPr id="11" name="Shape 9"/>
          <p:cNvSpPr/>
          <p:nvPr/>
        </p:nvSpPr>
        <p:spPr>
          <a:xfrm>
            <a:off x="8067572" y="2046982"/>
            <a:ext cx="406191" cy="406202"/>
          </a:xfrm>
          <a:prstGeom prst="roundRect">
            <a:avLst>
              <a:gd name="adj" fmla="val 18669"/>
            </a:avLst>
          </a:prstGeom>
          <a:solidFill>
            <a:srgbClr val="F9D2D6"/>
          </a:solidFill>
          <a:ln w="6350">
            <a:solidFill>
              <a:srgbClr val="DFB8BC"/>
            </a:solidFill>
            <a:prstDash val="solid"/>
          </a:ln>
        </p:spPr>
        <p:txBody>
          <a:bodyPr/>
          <a:lstStyle/>
          <a:p>
            <a:endParaRPr lang="en-US"/>
          </a:p>
        </p:txBody>
      </p:sp>
      <p:sp>
        <p:nvSpPr>
          <p:cNvPr id="12" name="Text 10"/>
          <p:cNvSpPr/>
          <p:nvPr/>
        </p:nvSpPr>
        <p:spPr>
          <a:xfrm>
            <a:off x="8128144" y="2071936"/>
            <a:ext cx="285048" cy="356295"/>
          </a:xfrm>
          <a:prstGeom prst="rect">
            <a:avLst/>
          </a:prstGeom>
          <a:noFill/>
          <a:ln/>
        </p:spPr>
        <p:txBody>
          <a:bodyPr wrap="none" lIns="0" tIns="0" rIns="0" bIns="0" rtlCol="0" anchor="ctr"/>
          <a:lstStyle/>
          <a:p>
            <a:pPr marL="0" indent="0" algn="ctr">
              <a:lnSpc>
                <a:spcPct val="100000"/>
              </a:lnSpc>
              <a:buNone/>
            </a:pPr>
            <a:r>
              <a:rPr lang="en-US" sz="2200" dirty="0">
                <a:solidFill>
                  <a:srgbClr val="3B3535"/>
                </a:solidFill>
                <a:latin typeface="Sora SemiBold" pitchFamily="34" charset="0"/>
                <a:ea typeface="Sora SemiBold" pitchFamily="34" charset="-122"/>
                <a:cs typeface="Sora SemiBold" pitchFamily="34" charset="-120"/>
              </a:rPr>
              <a:t>3</a:t>
            </a:r>
            <a:endParaRPr lang="en-US" sz="2200" dirty="0"/>
          </a:p>
        </p:txBody>
      </p:sp>
      <p:sp>
        <p:nvSpPr>
          <p:cNvPr id="13" name="Text 11"/>
          <p:cNvSpPr/>
          <p:nvPr/>
        </p:nvSpPr>
        <p:spPr>
          <a:xfrm>
            <a:off x="8654238" y="2108994"/>
            <a:ext cx="2905548" cy="296863"/>
          </a:xfrm>
          <a:prstGeom prst="rect">
            <a:avLst/>
          </a:prstGeom>
          <a:noFill/>
          <a:ln/>
        </p:spPr>
        <p:txBody>
          <a:bodyPr wrap="none" lIns="0" tIns="0" rIns="0" bIns="0" rtlCol="0" anchor="t"/>
          <a:lstStyle/>
          <a:p>
            <a:pPr marL="0" indent="0" algn="l">
              <a:lnSpc>
                <a:spcPct val="104000"/>
              </a:lnSpc>
              <a:buNone/>
            </a:pPr>
            <a:r>
              <a:rPr lang="en-US" sz="1850" dirty="0">
                <a:solidFill>
                  <a:srgbClr val="3B3535"/>
                </a:solidFill>
                <a:latin typeface="Sora SemiBold" pitchFamily="34" charset="0"/>
                <a:ea typeface="Sora SemiBold" pitchFamily="34" charset="-122"/>
                <a:cs typeface="Sora SemiBold" pitchFamily="34" charset="-120"/>
              </a:rPr>
              <a:t>Fixed It</a:t>
            </a:r>
            <a:endParaRPr lang="en-US" sz="1850" dirty="0"/>
          </a:p>
        </p:txBody>
      </p:sp>
      <p:sp>
        <p:nvSpPr>
          <p:cNvPr id="14" name="Text 12"/>
          <p:cNvSpPr/>
          <p:nvPr/>
        </p:nvSpPr>
        <p:spPr>
          <a:xfrm>
            <a:off x="8654238" y="2514104"/>
            <a:ext cx="2905548" cy="17335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We rebuilt our forecasting features to correctly account for these gaps, so the model is never learning from mistaken assumptions about what happened on a missing day.</a:t>
            </a:r>
            <a:endParaRPr lang="en-US" sz="1400" dirty="0"/>
          </a:p>
        </p:txBody>
      </p:sp>
      <p:sp>
        <p:nvSpPr>
          <p:cNvPr id="15" name="Text 13"/>
          <p:cNvSpPr/>
          <p:nvPr/>
        </p:nvSpPr>
        <p:spPr>
          <a:xfrm>
            <a:off x="902670" y="4653855"/>
            <a:ext cx="11266702" cy="288925"/>
          </a:xfrm>
          <a:prstGeom prst="rect">
            <a:avLst/>
          </a:prstGeom>
          <a:noFill/>
          <a:ln/>
        </p:spPr>
        <p:txBody>
          <a:bodyPr wrap="none" lIns="0" tIns="0" rIns="0" bIns="0" rtlCol="0" anchor="t"/>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A forecasting tool is only as trustworthy as the process that built it.</a:t>
            </a:r>
            <a:endParaRPr lang="en-US" sz="1400" dirty="0"/>
          </a:p>
        </p:txBody>
      </p:sp>
      <p:sp>
        <p:nvSpPr>
          <p:cNvPr id="16" name="Shape 14"/>
          <p:cNvSpPr/>
          <p:nvPr/>
        </p:nvSpPr>
        <p:spPr>
          <a:xfrm>
            <a:off x="631908" y="4450755"/>
            <a:ext cx="25399" cy="695127"/>
          </a:xfrm>
          <a:prstGeom prst="roundRect">
            <a:avLst>
              <a:gd name="adj" fmla="val 50001"/>
            </a:avLst>
          </a:prstGeom>
          <a:solidFill>
            <a:srgbClr val="DA1B2E"/>
          </a:solidFill>
          <a:ln/>
        </p:spPr>
        <p:txBody>
          <a:bodyPr/>
          <a:lstStyle/>
          <a:p>
            <a:endParaRPr lang="en-US"/>
          </a:p>
        </p:txBody>
      </p:sp>
      <p:sp>
        <p:nvSpPr>
          <p:cNvPr id="17" name="Shape 15"/>
          <p:cNvSpPr/>
          <p:nvPr/>
        </p:nvSpPr>
        <p:spPr>
          <a:xfrm>
            <a:off x="631908" y="5348982"/>
            <a:ext cx="10927878" cy="1010841"/>
          </a:xfrm>
          <a:prstGeom prst="roundRect">
            <a:avLst>
              <a:gd name="adj" fmla="val 7502"/>
            </a:avLst>
          </a:prstGeom>
          <a:solidFill>
            <a:srgbClr val="F9D2D6"/>
          </a:solidFill>
          <a:ln/>
        </p:spPr>
        <p:txBody>
          <a:bodyPr/>
          <a:lstStyle/>
          <a:p>
            <a:endParaRPr lang="en-US"/>
          </a:p>
        </p:txBody>
      </p:sp>
      <p:pic>
        <p:nvPicPr>
          <p:cNvPr id="18" name="Image 0" descr="preencoded.png"/>
          <p:cNvPicPr>
            <a:picLocks noChangeAspect="1"/>
          </p:cNvPicPr>
          <p:nvPr/>
        </p:nvPicPr>
        <p:blipFill>
          <a:blip r:embed="rId3"/>
          <a:stretch>
            <a:fillRect/>
          </a:stretch>
        </p:blipFill>
        <p:spPr>
          <a:xfrm>
            <a:off x="812383" y="5607050"/>
            <a:ext cx="225618" cy="180479"/>
          </a:xfrm>
          <a:prstGeom prst="rect">
            <a:avLst/>
          </a:prstGeom>
        </p:spPr>
      </p:pic>
      <p:sp>
        <p:nvSpPr>
          <p:cNvPr id="19" name="Text 16"/>
          <p:cNvSpPr/>
          <p:nvPr/>
        </p:nvSpPr>
        <p:spPr>
          <a:xfrm>
            <a:off x="1218475" y="5574506"/>
            <a:ext cx="10160837" cy="577850"/>
          </a:xfrm>
          <a:prstGeom prst="rect">
            <a:avLst/>
          </a:prstGeom>
          <a:noFill/>
          <a:ln/>
        </p:spPr>
        <p:txBody>
          <a:bodyPr wrap="square" lIns="0" tIns="0" rIns="0" bIns="0" rtlCol="0" anchor="t">
            <a:normAutofit/>
          </a:bodyPr>
          <a:lstStyle/>
          <a:p>
            <a:pPr marL="0" indent="0" algn="l">
              <a:lnSpc>
                <a:spcPct val="133000"/>
              </a:lnSpc>
              <a:buNone/>
            </a:pPr>
            <a:r>
              <a:rPr lang="en-US" sz="1400" b="1" i="1" dirty="0">
                <a:solidFill>
                  <a:srgbClr val="000000"/>
                </a:solidFill>
                <a:latin typeface="Sora Bold" pitchFamily="34" charset="0"/>
                <a:ea typeface="Sora Bold" pitchFamily="34" charset="-122"/>
                <a:cs typeface="Sora Bold" pitchFamily="34" charset="-120"/>
              </a:rPr>
              <a:t>Technical Note:</a:t>
            </a:r>
            <a:r>
              <a:rPr lang="en-US" sz="1400" i="1" dirty="0">
                <a:solidFill>
                  <a:srgbClr val="000000"/>
                </a:solidFill>
                <a:latin typeface="Sora Light" pitchFamily="34" charset="0"/>
                <a:ea typeface="Sora Light" pitchFamily="34" charset="-122"/>
                <a:cs typeface="Sora Light" pitchFamily="34" charset="-120"/>
              </a:rPr>
              <a:t> Root cause: staggered SKU launch dates plus genuine gaps. Fixed via per-series calendar reindexing before computing lag and rolling features; rolling window relaxed to min_periods=3.</a:t>
            </a:r>
            <a:endParaRPr lang="en-US" sz="1400" dirty="0"/>
          </a:p>
        </p:txBody>
      </p:sp>
      <p:sp>
        <p:nvSpPr>
          <p:cNvPr id="21" name="Rectangle: Rounded Corners 20">
            <a:extLst>
              <a:ext uri="{FF2B5EF4-FFF2-40B4-BE49-F238E27FC236}">
                <a16:creationId xmlns:a16="http://schemas.microsoft.com/office/drawing/2014/main" id="{84283A69-0B2C-ED24-E707-9A4B042552EF}"/>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31908" y="600670"/>
            <a:ext cx="10927878" cy="504726"/>
          </a:xfrm>
          <a:prstGeom prst="rect">
            <a:avLst/>
          </a:prstGeom>
          <a:noFill/>
          <a:ln/>
        </p:spPr>
        <p:txBody>
          <a:bodyPr wrap="none" lIns="0" tIns="0" rIns="0" bIns="0" rtlCol="0" anchor="t"/>
          <a:lstStyle/>
          <a:p>
            <a:pPr marL="0" indent="0" algn="l">
              <a:lnSpc>
                <a:spcPct val="104000"/>
              </a:lnSpc>
              <a:buNone/>
            </a:pPr>
            <a:r>
              <a:rPr lang="en-US" sz="3150" dirty="0">
                <a:solidFill>
                  <a:srgbClr val="1F1E1E"/>
                </a:solidFill>
                <a:latin typeface="Sora SemiBold" pitchFamily="34" charset="0"/>
                <a:ea typeface="Sora SemiBold" pitchFamily="34" charset="-122"/>
                <a:cs typeface="Sora SemiBold" pitchFamily="34" charset="-120"/>
              </a:rPr>
              <a:t>How the Forecast Actually Works</a:t>
            </a:r>
            <a:endParaRPr lang="en-US" sz="3150" dirty="0"/>
          </a:p>
        </p:txBody>
      </p:sp>
      <p:sp>
        <p:nvSpPr>
          <p:cNvPr id="3" name="Text 1"/>
          <p:cNvSpPr/>
          <p:nvPr/>
        </p:nvSpPr>
        <p:spPr>
          <a:xfrm>
            <a:off x="631908" y="1366242"/>
            <a:ext cx="11537463" cy="227112"/>
          </a:xfrm>
          <a:prstGeom prst="rect">
            <a:avLst/>
          </a:prstGeom>
          <a:noFill/>
          <a:ln/>
        </p:spPr>
        <p:txBody>
          <a:bodyPr wrap="none" lIns="0" tIns="0" rIns="0" bIns="0" rtlCol="0" anchor="t"/>
          <a:lstStyle/>
          <a:p>
            <a:pPr marL="0" indent="0" algn="l">
              <a:lnSpc>
                <a:spcPct val="123000"/>
              </a:lnSpc>
              <a:buNone/>
            </a:pPr>
            <a:r>
              <a:rPr lang="en-US" sz="1200" dirty="0">
                <a:solidFill>
                  <a:srgbClr val="3B3535"/>
                </a:solidFill>
                <a:latin typeface="Sora Light" pitchFamily="34" charset="0"/>
                <a:ea typeface="Sora Light" pitchFamily="34" charset="-122"/>
                <a:cs typeface="Sora Light" pitchFamily="34" charset="-120"/>
              </a:rPr>
              <a:t>Four stages turn your raw sales history into a reliable daily prediction.</a:t>
            </a:r>
            <a:endParaRPr lang="en-US" sz="1200" dirty="0"/>
          </a:p>
        </p:txBody>
      </p:sp>
      <p:pic>
        <p:nvPicPr>
          <p:cNvPr id="4" name="Image 0" descr="preencoded.png"/>
          <p:cNvPicPr>
            <a:picLocks noChangeAspect="1"/>
          </p:cNvPicPr>
          <p:nvPr/>
        </p:nvPicPr>
        <p:blipFill>
          <a:blip r:embed="rId3"/>
          <a:stretch>
            <a:fillRect/>
          </a:stretch>
        </p:blipFill>
        <p:spPr>
          <a:xfrm>
            <a:off x="631908" y="1740098"/>
            <a:ext cx="5463939" cy="613866"/>
          </a:xfrm>
          <a:prstGeom prst="rect">
            <a:avLst/>
          </a:prstGeom>
        </p:spPr>
      </p:pic>
      <p:sp>
        <p:nvSpPr>
          <p:cNvPr id="5" name="Text 2"/>
          <p:cNvSpPr/>
          <p:nvPr/>
        </p:nvSpPr>
        <p:spPr>
          <a:xfrm>
            <a:off x="785297" y="2484338"/>
            <a:ext cx="5157162" cy="252313"/>
          </a:xfrm>
          <a:prstGeom prst="rect">
            <a:avLst/>
          </a:prstGeom>
          <a:noFill/>
          <a:ln/>
        </p:spPr>
        <p:txBody>
          <a:bodyPr wrap="none" lIns="0" tIns="0" rIns="0" bIns="0" rtlCol="0" anchor="t"/>
          <a:lstStyle/>
          <a:p>
            <a:pPr marL="0" indent="0" algn="l">
              <a:lnSpc>
                <a:spcPct val="104000"/>
              </a:lnSpc>
              <a:buNone/>
            </a:pPr>
            <a:r>
              <a:rPr lang="en-US" sz="1550" dirty="0">
                <a:solidFill>
                  <a:srgbClr val="3B3535"/>
                </a:solidFill>
                <a:latin typeface="Sora SemiBold" pitchFamily="34" charset="0"/>
                <a:ea typeface="Sora SemiBold" pitchFamily="34" charset="-122"/>
                <a:cs typeface="Sora SemiBold" pitchFamily="34" charset="-120"/>
              </a:rPr>
              <a:t>Start Simple</a:t>
            </a:r>
            <a:endParaRPr lang="en-US" sz="1550" dirty="0"/>
          </a:p>
        </p:txBody>
      </p:sp>
      <p:sp>
        <p:nvSpPr>
          <p:cNvPr id="6" name="Text 3"/>
          <p:cNvSpPr/>
          <p:nvPr/>
        </p:nvSpPr>
        <p:spPr>
          <a:xfrm>
            <a:off x="785297" y="2814836"/>
            <a:ext cx="5157162" cy="454223"/>
          </a:xfrm>
          <a:prstGeom prst="rect">
            <a:avLst/>
          </a:prstGeom>
          <a:noFill/>
          <a:ln/>
        </p:spPr>
        <p:txBody>
          <a:bodyPr wrap="square" lIns="0" tIns="0" rIns="0" bIns="0" rtlCol="0" anchor="t">
            <a:normAutofit/>
          </a:bodyPr>
          <a:lstStyle/>
          <a:p>
            <a:pPr marL="0" indent="0" algn="l">
              <a:lnSpc>
                <a:spcPct val="123000"/>
              </a:lnSpc>
              <a:buNone/>
            </a:pPr>
            <a:r>
              <a:rPr lang="en-US" sz="1200" dirty="0">
                <a:solidFill>
                  <a:srgbClr val="3B3535"/>
                </a:solidFill>
                <a:latin typeface="Sora Light" pitchFamily="34" charset="0"/>
                <a:ea typeface="Sora Light" pitchFamily="34" charset="-122"/>
                <a:cs typeface="Sora Light" pitchFamily="34" charset="-120"/>
              </a:rPr>
              <a:t>We first tried the most basic guess possible, assuming tomorrow looks like yesterday.</a:t>
            </a:r>
            <a:endParaRPr lang="en-US" sz="1200" dirty="0"/>
          </a:p>
        </p:txBody>
      </p:sp>
      <p:pic>
        <p:nvPicPr>
          <p:cNvPr id="7" name="Image 1" descr="preencoded.png"/>
          <p:cNvPicPr>
            <a:picLocks noChangeAspect="1"/>
          </p:cNvPicPr>
          <p:nvPr/>
        </p:nvPicPr>
        <p:blipFill>
          <a:blip r:embed="rId4"/>
          <a:stretch>
            <a:fillRect/>
          </a:stretch>
        </p:blipFill>
        <p:spPr>
          <a:xfrm>
            <a:off x="6095848" y="1740098"/>
            <a:ext cx="5463939" cy="613866"/>
          </a:xfrm>
          <a:prstGeom prst="rect">
            <a:avLst/>
          </a:prstGeom>
        </p:spPr>
      </p:pic>
      <p:sp>
        <p:nvSpPr>
          <p:cNvPr id="8" name="Text 4"/>
          <p:cNvSpPr/>
          <p:nvPr/>
        </p:nvSpPr>
        <p:spPr>
          <a:xfrm>
            <a:off x="6249236" y="2484338"/>
            <a:ext cx="5157162" cy="252313"/>
          </a:xfrm>
          <a:prstGeom prst="rect">
            <a:avLst/>
          </a:prstGeom>
          <a:noFill/>
          <a:ln/>
        </p:spPr>
        <p:txBody>
          <a:bodyPr wrap="none" lIns="0" tIns="0" rIns="0" bIns="0" rtlCol="0" anchor="t"/>
          <a:lstStyle/>
          <a:p>
            <a:pPr marL="0" indent="0" algn="l">
              <a:lnSpc>
                <a:spcPct val="104000"/>
              </a:lnSpc>
              <a:buNone/>
            </a:pPr>
            <a:r>
              <a:rPr lang="en-US" sz="1550" dirty="0">
                <a:solidFill>
                  <a:srgbClr val="3B3535"/>
                </a:solidFill>
                <a:latin typeface="Sora SemiBold" pitchFamily="34" charset="0"/>
                <a:ea typeface="Sora SemiBold" pitchFamily="34" charset="-122"/>
                <a:cs typeface="Sora SemiBold" pitchFamily="34" charset="-120"/>
              </a:rPr>
              <a:t>Add Real Patterns</a:t>
            </a:r>
            <a:endParaRPr lang="en-US" sz="1550" dirty="0"/>
          </a:p>
        </p:txBody>
      </p:sp>
      <p:sp>
        <p:nvSpPr>
          <p:cNvPr id="9" name="Text 5"/>
          <p:cNvSpPr/>
          <p:nvPr/>
        </p:nvSpPr>
        <p:spPr>
          <a:xfrm>
            <a:off x="6249236" y="2814836"/>
            <a:ext cx="5157162" cy="454223"/>
          </a:xfrm>
          <a:prstGeom prst="rect">
            <a:avLst/>
          </a:prstGeom>
          <a:noFill/>
          <a:ln/>
        </p:spPr>
        <p:txBody>
          <a:bodyPr wrap="square" lIns="0" tIns="0" rIns="0" bIns="0" rtlCol="0" anchor="t">
            <a:normAutofit/>
          </a:bodyPr>
          <a:lstStyle/>
          <a:p>
            <a:pPr marL="0" indent="0" algn="l">
              <a:lnSpc>
                <a:spcPct val="123000"/>
              </a:lnSpc>
              <a:buNone/>
            </a:pPr>
            <a:r>
              <a:rPr lang="en-US" sz="1200" dirty="0">
                <a:solidFill>
                  <a:srgbClr val="3B3535"/>
                </a:solidFill>
                <a:latin typeface="Sora Light" pitchFamily="34" charset="0"/>
                <a:ea typeface="Sora Light" pitchFamily="34" charset="-122"/>
                <a:cs typeface="Sora Light" pitchFamily="34" charset="-120"/>
              </a:rPr>
              <a:t>We taught the model to recognize which factors actually matter, like current stock and active promotions.</a:t>
            </a:r>
            <a:endParaRPr lang="en-US" sz="1200" dirty="0"/>
          </a:p>
        </p:txBody>
      </p:sp>
      <p:pic>
        <p:nvPicPr>
          <p:cNvPr id="10" name="Image 2" descr="preencoded.png"/>
          <p:cNvPicPr>
            <a:picLocks noChangeAspect="1"/>
          </p:cNvPicPr>
          <p:nvPr/>
        </p:nvPicPr>
        <p:blipFill>
          <a:blip r:embed="rId5"/>
          <a:stretch>
            <a:fillRect/>
          </a:stretch>
        </p:blipFill>
        <p:spPr>
          <a:xfrm>
            <a:off x="631908" y="3422452"/>
            <a:ext cx="5463939" cy="613866"/>
          </a:xfrm>
          <a:prstGeom prst="rect">
            <a:avLst/>
          </a:prstGeom>
        </p:spPr>
      </p:pic>
      <p:sp>
        <p:nvSpPr>
          <p:cNvPr id="11" name="Text 6"/>
          <p:cNvSpPr/>
          <p:nvPr/>
        </p:nvSpPr>
        <p:spPr>
          <a:xfrm>
            <a:off x="785297" y="4166691"/>
            <a:ext cx="5157162" cy="252313"/>
          </a:xfrm>
          <a:prstGeom prst="rect">
            <a:avLst/>
          </a:prstGeom>
          <a:noFill/>
          <a:ln/>
        </p:spPr>
        <p:txBody>
          <a:bodyPr wrap="none" lIns="0" tIns="0" rIns="0" bIns="0" rtlCol="0" anchor="t"/>
          <a:lstStyle/>
          <a:p>
            <a:pPr marL="0" indent="0" algn="l">
              <a:lnSpc>
                <a:spcPct val="104000"/>
              </a:lnSpc>
              <a:buNone/>
            </a:pPr>
            <a:r>
              <a:rPr lang="en-US" sz="1550" dirty="0">
                <a:solidFill>
                  <a:srgbClr val="3B3535"/>
                </a:solidFill>
                <a:latin typeface="Sora SemiBold" pitchFamily="34" charset="0"/>
                <a:ea typeface="Sora SemiBold" pitchFamily="34" charset="-122"/>
                <a:cs typeface="Sora SemiBold" pitchFamily="34" charset="-120"/>
              </a:rPr>
              <a:t>Test Rigorously</a:t>
            </a:r>
            <a:endParaRPr lang="en-US" sz="1550" dirty="0"/>
          </a:p>
        </p:txBody>
      </p:sp>
      <p:sp>
        <p:nvSpPr>
          <p:cNvPr id="12" name="Text 7"/>
          <p:cNvSpPr/>
          <p:nvPr/>
        </p:nvSpPr>
        <p:spPr>
          <a:xfrm>
            <a:off x="785297" y="4497189"/>
            <a:ext cx="5157162" cy="454223"/>
          </a:xfrm>
          <a:prstGeom prst="rect">
            <a:avLst/>
          </a:prstGeom>
          <a:noFill/>
          <a:ln/>
        </p:spPr>
        <p:txBody>
          <a:bodyPr wrap="square" lIns="0" tIns="0" rIns="0" bIns="0" rtlCol="0" anchor="t">
            <a:normAutofit/>
          </a:bodyPr>
          <a:lstStyle/>
          <a:p>
            <a:pPr marL="0" indent="0" algn="l">
              <a:lnSpc>
                <a:spcPct val="123000"/>
              </a:lnSpc>
              <a:buNone/>
            </a:pPr>
            <a:r>
              <a:rPr lang="en-US" sz="1200" dirty="0">
                <a:solidFill>
                  <a:srgbClr val="3B3535"/>
                </a:solidFill>
                <a:latin typeface="Sora Light" pitchFamily="34" charset="0"/>
                <a:ea typeface="Sora Light" pitchFamily="34" charset="-122"/>
                <a:cs typeface="Sora Light" pitchFamily="34" charset="-120"/>
              </a:rPr>
              <a:t>We tested every version against real, unseen data the model had never been shown before.</a:t>
            </a:r>
            <a:endParaRPr lang="en-US" sz="1200" dirty="0"/>
          </a:p>
        </p:txBody>
      </p:sp>
      <p:pic>
        <p:nvPicPr>
          <p:cNvPr id="13" name="Image 3" descr="preencoded.png"/>
          <p:cNvPicPr>
            <a:picLocks noChangeAspect="1"/>
          </p:cNvPicPr>
          <p:nvPr/>
        </p:nvPicPr>
        <p:blipFill>
          <a:blip r:embed="rId6"/>
          <a:stretch>
            <a:fillRect/>
          </a:stretch>
        </p:blipFill>
        <p:spPr>
          <a:xfrm>
            <a:off x="6095848" y="3422452"/>
            <a:ext cx="5463939" cy="613866"/>
          </a:xfrm>
          <a:prstGeom prst="rect">
            <a:avLst/>
          </a:prstGeom>
        </p:spPr>
      </p:pic>
      <p:sp>
        <p:nvSpPr>
          <p:cNvPr id="14" name="Text 8"/>
          <p:cNvSpPr/>
          <p:nvPr/>
        </p:nvSpPr>
        <p:spPr>
          <a:xfrm>
            <a:off x="6249236" y="4166691"/>
            <a:ext cx="5157162" cy="252313"/>
          </a:xfrm>
          <a:prstGeom prst="rect">
            <a:avLst/>
          </a:prstGeom>
          <a:noFill/>
          <a:ln/>
        </p:spPr>
        <p:txBody>
          <a:bodyPr wrap="none" lIns="0" tIns="0" rIns="0" bIns="0" rtlCol="0" anchor="t"/>
          <a:lstStyle/>
          <a:p>
            <a:pPr marL="0" indent="0" algn="l">
              <a:lnSpc>
                <a:spcPct val="104000"/>
              </a:lnSpc>
              <a:buNone/>
            </a:pPr>
            <a:r>
              <a:rPr lang="en-US" sz="1550" dirty="0">
                <a:solidFill>
                  <a:srgbClr val="3B3535"/>
                </a:solidFill>
                <a:latin typeface="Sora SemiBold" pitchFamily="34" charset="0"/>
                <a:ea typeface="Sora SemiBold" pitchFamily="34" charset="-122"/>
                <a:cs typeface="Sora SemiBold" pitchFamily="34" charset="-120"/>
              </a:rPr>
              <a:t>Choose the Best</a:t>
            </a:r>
            <a:endParaRPr lang="en-US" sz="1550" dirty="0"/>
          </a:p>
        </p:txBody>
      </p:sp>
      <p:sp>
        <p:nvSpPr>
          <p:cNvPr id="15" name="Text 9"/>
          <p:cNvSpPr/>
          <p:nvPr/>
        </p:nvSpPr>
        <p:spPr>
          <a:xfrm>
            <a:off x="6249236" y="4497189"/>
            <a:ext cx="5157162" cy="454223"/>
          </a:xfrm>
          <a:prstGeom prst="rect">
            <a:avLst/>
          </a:prstGeom>
          <a:noFill/>
          <a:ln/>
        </p:spPr>
        <p:txBody>
          <a:bodyPr wrap="square" lIns="0" tIns="0" rIns="0" bIns="0" rtlCol="0" anchor="t">
            <a:normAutofit/>
          </a:bodyPr>
          <a:lstStyle/>
          <a:p>
            <a:pPr marL="0" indent="0" algn="l">
              <a:lnSpc>
                <a:spcPct val="123000"/>
              </a:lnSpc>
              <a:buNone/>
            </a:pPr>
            <a:r>
              <a:rPr lang="en-US" sz="1200" dirty="0">
                <a:solidFill>
                  <a:srgbClr val="3B3535"/>
                </a:solidFill>
                <a:latin typeface="Sora Light" pitchFamily="34" charset="0"/>
                <a:ea typeface="Sora Light" pitchFamily="34" charset="-122"/>
                <a:cs typeface="Sora Light" pitchFamily="34" charset="-120"/>
              </a:rPr>
              <a:t>We kept the version that performed best and was least likely to fail on new data.</a:t>
            </a:r>
            <a:endParaRPr lang="en-US" sz="1200" dirty="0"/>
          </a:p>
        </p:txBody>
      </p:sp>
      <p:sp>
        <p:nvSpPr>
          <p:cNvPr id="16" name="Shape 10"/>
          <p:cNvSpPr/>
          <p:nvPr/>
        </p:nvSpPr>
        <p:spPr>
          <a:xfrm>
            <a:off x="631908" y="5251549"/>
            <a:ext cx="10927878" cy="1005681"/>
          </a:xfrm>
          <a:prstGeom prst="roundRect">
            <a:avLst>
              <a:gd name="adj" fmla="val 6409"/>
            </a:avLst>
          </a:prstGeom>
          <a:solidFill>
            <a:srgbClr val="F9D2D6"/>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785297" y="5438378"/>
            <a:ext cx="191785" cy="153392"/>
          </a:xfrm>
          <a:prstGeom prst="rect">
            <a:avLst/>
          </a:prstGeom>
        </p:spPr>
      </p:pic>
      <p:sp>
        <p:nvSpPr>
          <p:cNvPr id="18" name="Text 11"/>
          <p:cNvSpPr/>
          <p:nvPr/>
        </p:nvSpPr>
        <p:spPr>
          <a:xfrm>
            <a:off x="1130470" y="5420221"/>
            <a:ext cx="10275928" cy="681335"/>
          </a:xfrm>
          <a:prstGeom prst="rect">
            <a:avLst/>
          </a:prstGeom>
          <a:noFill/>
          <a:ln/>
        </p:spPr>
        <p:txBody>
          <a:bodyPr wrap="square" lIns="0" tIns="0" rIns="0" bIns="0" rtlCol="0" anchor="t">
            <a:normAutofit/>
          </a:bodyPr>
          <a:lstStyle/>
          <a:p>
            <a:pPr marL="0" indent="0" algn="l">
              <a:lnSpc>
                <a:spcPct val="123000"/>
              </a:lnSpc>
              <a:buNone/>
            </a:pPr>
            <a:r>
              <a:rPr lang="en-US" sz="1200" b="1" i="1" dirty="0">
                <a:solidFill>
                  <a:srgbClr val="000000"/>
                </a:solidFill>
                <a:latin typeface="Sora Bold" pitchFamily="34" charset="0"/>
                <a:ea typeface="Sora Bold" pitchFamily="34" charset="-122"/>
                <a:cs typeface="Sora Bold" pitchFamily="34" charset="-120"/>
              </a:rPr>
              <a:t>Technical Note:</a:t>
            </a:r>
            <a:r>
              <a:rPr lang="en-US" sz="1200" i="1" dirty="0">
                <a:solidFill>
                  <a:srgbClr val="000000"/>
                </a:solidFill>
                <a:latin typeface="Sora Light" pitchFamily="34" charset="0"/>
                <a:ea typeface="Sora Light" pitchFamily="34" charset="-122"/>
                <a:cs typeface="Sora Light" pitchFamily="34" charset="-120"/>
              </a:rPr>
              <a:t> Final model: Random Forest Regressor (max_depth=10, min_samples_leaf=5), selected over Linear Regression and Gradient Boosting after time-based train/test evaluation. Hyperparameters tuned to balance bias-variance tradeoff and prevent overfitting.</a:t>
            </a:r>
            <a:endParaRPr lang="en-US" sz="1200" dirty="0"/>
          </a:p>
        </p:txBody>
      </p:sp>
      <p:sp>
        <p:nvSpPr>
          <p:cNvPr id="20" name="Rectangle: Rounded Corners 19">
            <a:extLst>
              <a:ext uri="{FF2B5EF4-FFF2-40B4-BE49-F238E27FC236}">
                <a16:creationId xmlns:a16="http://schemas.microsoft.com/office/drawing/2014/main" id="{CB2B0332-E56A-50BE-6E6D-BA79EC0A7A1E}"/>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5771" y="161250"/>
            <a:ext cx="10927878" cy="534491"/>
          </a:xfrm>
          <a:prstGeom prst="rect">
            <a:avLst/>
          </a:prstGeom>
          <a:noFill/>
          <a:ln/>
        </p:spPr>
        <p:txBody>
          <a:bodyPr wrap="none" lIns="0" tIns="0" rIns="0" bIns="0" rtlCol="0" anchor="t"/>
          <a:lstStyle/>
          <a:p>
            <a:pPr marL="0" indent="0" algn="l">
              <a:lnSpc>
                <a:spcPct val="104000"/>
              </a:lnSpc>
              <a:buNone/>
            </a:pPr>
            <a:r>
              <a:rPr lang="en-US" sz="3350" dirty="0">
                <a:solidFill>
                  <a:srgbClr val="1F1E1E"/>
                </a:solidFill>
                <a:latin typeface="Sora SemiBold" pitchFamily="34" charset="0"/>
                <a:ea typeface="Sora SemiBold" pitchFamily="34" charset="-122"/>
                <a:cs typeface="Sora SemiBold" pitchFamily="34" charset="-120"/>
              </a:rPr>
              <a:t>How Accurate Is This Forecast, Really?</a:t>
            </a:r>
            <a:endParaRPr lang="en-US" sz="3350" dirty="0"/>
          </a:p>
        </p:txBody>
      </p:sp>
      <p:sp>
        <p:nvSpPr>
          <p:cNvPr id="3" name="Text 1"/>
          <p:cNvSpPr/>
          <p:nvPr/>
        </p:nvSpPr>
        <p:spPr>
          <a:xfrm>
            <a:off x="631907" y="733993"/>
            <a:ext cx="5265705" cy="1069082"/>
          </a:xfrm>
          <a:prstGeom prst="rect">
            <a:avLst/>
          </a:prstGeom>
          <a:noFill/>
          <a:ln/>
        </p:spPr>
        <p:txBody>
          <a:bodyPr wrap="none" lIns="0" tIns="0" rIns="0" bIns="0" rtlCol="0" anchor="t"/>
          <a:lstStyle/>
          <a:p>
            <a:pPr marL="0" indent="0" algn="l">
              <a:lnSpc>
                <a:spcPct val="104000"/>
              </a:lnSpc>
              <a:buNone/>
            </a:pPr>
            <a:r>
              <a:rPr lang="en-US" sz="6700" dirty="0">
                <a:solidFill>
                  <a:srgbClr val="DA1B2E"/>
                </a:solidFill>
                <a:latin typeface="Sora SemiBold" pitchFamily="34" charset="0"/>
                <a:ea typeface="Sora SemiBold" pitchFamily="34" charset="-122"/>
                <a:cs typeface="Sora SemiBold" pitchFamily="34" charset="-120"/>
              </a:rPr>
              <a:t>~60%</a:t>
            </a:r>
            <a:endParaRPr lang="en-US" sz="6700" dirty="0"/>
          </a:p>
        </p:txBody>
      </p:sp>
      <p:sp>
        <p:nvSpPr>
          <p:cNvPr id="4" name="Text 2"/>
          <p:cNvSpPr/>
          <p:nvPr/>
        </p:nvSpPr>
        <p:spPr>
          <a:xfrm>
            <a:off x="553250" y="1841327"/>
            <a:ext cx="5265705" cy="267196"/>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Sora SemiBold" pitchFamily="34" charset="0"/>
                <a:ea typeface="Sora SemiBold" pitchFamily="34" charset="-122"/>
                <a:cs typeface="Sora SemiBold" pitchFamily="34" charset="-120"/>
              </a:rPr>
              <a:t>More Accurate Than Guessing</a:t>
            </a:r>
            <a:endParaRPr lang="en-US" sz="1650" dirty="0"/>
          </a:p>
        </p:txBody>
      </p:sp>
      <p:sp>
        <p:nvSpPr>
          <p:cNvPr id="5" name="Text 3"/>
          <p:cNvSpPr/>
          <p:nvPr/>
        </p:nvSpPr>
        <p:spPr>
          <a:xfrm>
            <a:off x="553250" y="2205267"/>
            <a:ext cx="3074853" cy="2789519"/>
          </a:xfrm>
          <a:prstGeom prst="rect">
            <a:avLst/>
          </a:prstGeom>
          <a:noFill/>
          <a:ln/>
        </p:spPr>
        <p:txBody>
          <a:bodyPr wrap="square" lIns="0" tIns="0" rIns="0" bIns="0" rtlCol="0" anchor="t">
            <a:normAutofit/>
          </a:bodyPr>
          <a:lstStyle/>
          <a:p>
            <a:pPr marL="0" indent="0" algn="l">
              <a:lnSpc>
                <a:spcPct val="127000"/>
              </a:lnSpc>
              <a:spcAft>
                <a:spcPts val="1000"/>
              </a:spcAft>
              <a:buNone/>
            </a:pPr>
            <a:r>
              <a:rPr lang="en-US" sz="1250" dirty="0">
                <a:solidFill>
                  <a:srgbClr val="3B3535"/>
                </a:solidFill>
                <a:latin typeface="Sora Light" pitchFamily="34" charset="0"/>
                <a:ea typeface="Sora Light" pitchFamily="34" charset="-122"/>
                <a:cs typeface="Sora Light" pitchFamily="34" charset="-120"/>
              </a:rPr>
              <a:t>Compared to simply assuming tomorrow will look like yesterday, this system typically </a:t>
            </a:r>
            <a:r>
              <a:rPr lang="en-US" sz="1250" b="1" dirty="0">
                <a:solidFill>
                  <a:srgbClr val="3B3535"/>
                </a:solidFill>
                <a:latin typeface="Sora Bold" pitchFamily="34" charset="0"/>
                <a:ea typeface="Sora Bold" pitchFamily="34" charset="-122"/>
                <a:cs typeface="Sora Bold" pitchFamily="34" charset="-120"/>
              </a:rPr>
              <a:t>cuts forecasting error by roughly 60 percent</a:t>
            </a:r>
            <a:r>
              <a:rPr lang="en-US" sz="1250" b="1" dirty="0">
                <a:solidFill>
                  <a:srgbClr val="3B3535"/>
                </a:solidFill>
                <a:latin typeface="Sora Light" pitchFamily="34" charset="0"/>
                <a:ea typeface="Sora Bold" pitchFamily="34" charset="-122"/>
                <a:cs typeface="Sora Light" pitchFamily="34" charset="-120"/>
              </a:rPr>
              <a:t>,</a:t>
            </a:r>
            <a:r>
              <a:rPr lang="en-US" sz="1250" dirty="0">
                <a:solidFill>
                  <a:srgbClr val="3B3535"/>
                </a:solidFill>
                <a:latin typeface="Sora Light" pitchFamily="34" charset="0"/>
                <a:ea typeface="Sora Light" pitchFamily="34" charset="-122"/>
                <a:cs typeface="Sora Light" pitchFamily="34" charset="-120"/>
              </a:rPr>
              <a:t> across every way we measured accuracy.</a:t>
            </a:r>
            <a:endParaRPr lang="en-US" sz="1250" dirty="0"/>
          </a:p>
          <a:p>
            <a:pPr marL="0" indent="0" algn="l">
              <a:lnSpc>
                <a:spcPct val="127000"/>
              </a:lnSpc>
              <a:buNone/>
            </a:pPr>
            <a:r>
              <a:rPr lang="en-US" sz="1250" dirty="0">
                <a:solidFill>
                  <a:srgbClr val="3B3535"/>
                </a:solidFill>
                <a:latin typeface="Sora Light" pitchFamily="34" charset="0"/>
                <a:ea typeface="Sora Light" pitchFamily="34" charset="-122"/>
                <a:cs typeface="Sora Light" pitchFamily="34" charset="-120"/>
              </a:rPr>
              <a:t>That means fewer emergency orders, fewer overstock situations, and more confident purchasing decisions every week.</a:t>
            </a:r>
            <a:endParaRPr lang="en-US" sz="1250" dirty="0"/>
          </a:p>
        </p:txBody>
      </p:sp>
      <p:sp>
        <p:nvSpPr>
          <p:cNvPr id="6" name="Text 4"/>
          <p:cNvSpPr/>
          <p:nvPr/>
        </p:nvSpPr>
        <p:spPr>
          <a:xfrm>
            <a:off x="4344772" y="5294119"/>
            <a:ext cx="6875504" cy="395089"/>
          </a:xfrm>
          <a:prstGeom prst="rect">
            <a:avLst/>
          </a:prstGeom>
          <a:noFill/>
          <a:ln/>
        </p:spPr>
        <p:txBody>
          <a:bodyPr wrap="square" lIns="0" tIns="0" rIns="0" bIns="0" rtlCol="0" anchor="t">
            <a:normAutofit/>
          </a:bodyPr>
          <a:lstStyle/>
          <a:p>
            <a:pPr marL="0" indent="0" algn="l">
              <a:lnSpc>
                <a:spcPct val="127000"/>
              </a:lnSpc>
              <a:buNone/>
            </a:pPr>
            <a:r>
              <a:rPr lang="en-US" sz="1000" i="1" dirty="0">
                <a:solidFill>
                  <a:srgbClr val="3B3535"/>
                </a:solidFill>
                <a:latin typeface="Sora Light" pitchFamily="34" charset="0"/>
                <a:ea typeface="Sora Light" pitchFamily="34" charset="-122"/>
                <a:cs typeface="Sora Light" pitchFamily="34" charset="-120"/>
              </a:rPr>
              <a:t>Source: Notebook Part 5, Section 5.4 , Baseline vs. Model accuracy comparison across all metrics]</a:t>
            </a:r>
            <a:endParaRPr lang="en-US" sz="1000" dirty="0"/>
          </a:p>
        </p:txBody>
      </p:sp>
      <p:sp>
        <p:nvSpPr>
          <p:cNvPr id="7" name="Shape 5"/>
          <p:cNvSpPr/>
          <p:nvPr/>
        </p:nvSpPr>
        <p:spPr>
          <a:xfrm>
            <a:off x="6300431" y="2262981"/>
            <a:ext cx="5265705" cy="2265958"/>
          </a:xfrm>
          <a:prstGeom prst="roundRect">
            <a:avLst>
              <a:gd name="adj" fmla="val 3012"/>
            </a:avLst>
          </a:prstGeom>
          <a:noFill/>
          <a:ln w="6350">
            <a:solidFill>
              <a:srgbClr val="000000">
                <a:alpha val="8000"/>
              </a:srgbClr>
            </a:solidFill>
            <a:prstDash val="solid"/>
          </a:ln>
        </p:spPr>
        <p:txBody>
          <a:bodyPr/>
          <a:lstStyle/>
          <a:p>
            <a:endParaRPr lang="en-US"/>
          </a:p>
        </p:txBody>
      </p:sp>
      <p:sp>
        <p:nvSpPr>
          <p:cNvPr id="8" name="Shape 6"/>
          <p:cNvSpPr/>
          <p:nvPr/>
        </p:nvSpPr>
        <p:spPr>
          <a:xfrm>
            <a:off x="6300431" y="2954536"/>
            <a:ext cx="5265705" cy="10156"/>
          </a:xfrm>
          <a:prstGeom prst="rect">
            <a:avLst/>
          </a:prstGeom>
          <a:solidFill>
            <a:srgbClr val="000000">
              <a:alpha val="8000"/>
            </a:srgbClr>
          </a:solidFill>
          <a:ln/>
        </p:spPr>
        <p:txBody>
          <a:bodyPr/>
          <a:lstStyle/>
          <a:p>
            <a:endParaRPr lang="en-US"/>
          </a:p>
        </p:txBody>
      </p:sp>
      <p:sp>
        <p:nvSpPr>
          <p:cNvPr id="9" name="Shape 7"/>
          <p:cNvSpPr/>
          <p:nvPr/>
        </p:nvSpPr>
        <p:spPr>
          <a:xfrm>
            <a:off x="6300431" y="3395960"/>
            <a:ext cx="5265705" cy="10156"/>
          </a:xfrm>
          <a:prstGeom prst="rect">
            <a:avLst/>
          </a:prstGeom>
          <a:solidFill>
            <a:srgbClr val="000000">
              <a:alpha val="8000"/>
            </a:srgbClr>
          </a:solidFill>
          <a:ln/>
        </p:spPr>
        <p:txBody>
          <a:bodyPr/>
          <a:lstStyle/>
          <a:p>
            <a:endParaRPr lang="en-US"/>
          </a:p>
        </p:txBody>
      </p:sp>
      <p:sp>
        <p:nvSpPr>
          <p:cNvPr id="12" name="Text 10"/>
          <p:cNvSpPr/>
          <p:nvPr/>
        </p:nvSpPr>
        <p:spPr>
          <a:xfrm>
            <a:off x="6469298" y="2363391"/>
            <a:ext cx="1597977" cy="246955"/>
          </a:xfrm>
          <a:prstGeom prst="rect">
            <a:avLst/>
          </a:prstGeom>
          <a:noFill/>
          <a:ln/>
        </p:spPr>
        <p:txBody>
          <a:bodyPr wrap="none" lIns="0" tIns="0" rIns="0" bIns="0" rtlCol="0" anchor="t"/>
          <a:lstStyle/>
          <a:p>
            <a:pPr marL="0" indent="0" algn="l">
              <a:lnSpc>
                <a:spcPct val="127000"/>
              </a:lnSpc>
              <a:buNone/>
            </a:pPr>
            <a:r>
              <a:rPr lang="en-US" sz="1250" b="1" dirty="0">
                <a:solidFill>
                  <a:srgbClr val="FFFFFF"/>
                </a:solidFill>
                <a:latin typeface="Sora Bold" pitchFamily="34" charset="0"/>
                <a:ea typeface="Sora Bold" pitchFamily="34" charset="-122"/>
                <a:cs typeface="Sora Bold" pitchFamily="34" charset="-120"/>
              </a:rPr>
              <a:t>Metric</a:t>
            </a:r>
            <a:endParaRPr lang="en-US" sz="1250" dirty="0"/>
          </a:p>
        </p:txBody>
      </p:sp>
      <p:sp>
        <p:nvSpPr>
          <p:cNvPr id="14" name="Text 12"/>
          <p:cNvSpPr/>
          <p:nvPr/>
        </p:nvSpPr>
        <p:spPr>
          <a:xfrm>
            <a:off x="7782524" y="2363391"/>
            <a:ext cx="1597977" cy="246955"/>
          </a:xfrm>
          <a:prstGeom prst="rect">
            <a:avLst/>
          </a:prstGeom>
          <a:noFill/>
          <a:ln/>
        </p:spPr>
        <p:txBody>
          <a:bodyPr wrap="none" lIns="0" tIns="0" rIns="0" bIns="0" rtlCol="0" anchor="t"/>
          <a:lstStyle/>
          <a:p>
            <a:pPr marL="0" indent="0" algn="l">
              <a:lnSpc>
                <a:spcPct val="127000"/>
              </a:lnSpc>
              <a:buNone/>
            </a:pPr>
            <a:r>
              <a:rPr lang="en-US" sz="1250" b="1" dirty="0">
                <a:solidFill>
                  <a:srgbClr val="FFFFFF"/>
                </a:solidFill>
                <a:latin typeface="Sora Bold" pitchFamily="34" charset="0"/>
                <a:ea typeface="Sora Bold" pitchFamily="34" charset="-122"/>
                <a:cs typeface="Sora Bold" pitchFamily="34" charset="-120"/>
              </a:rPr>
              <a:t>Baseline</a:t>
            </a:r>
            <a:endParaRPr lang="en-US" sz="1250" dirty="0"/>
          </a:p>
        </p:txBody>
      </p:sp>
      <p:grpSp>
        <p:nvGrpSpPr>
          <p:cNvPr id="37" name="Group 36">
            <a:extLst>
              <a:ext uri="{FF2B5EF4-FFF2-40B4-BE49-F238E27FC236}">
                <a16:creationId xmlns:a16="http://schemas.microsoft.com/office/drawing/2014/main" id="{3B7B89A8-2247-DD9A-6690-0953FA3692FF}"/>
              </a:ext>
            </a:extLst>
          </p:cNvPr>
          <p:cNvGrpSpPr/>
          <p:nvPr/>
        </p:nvGrpSpPr>
        <p:grpSpPr>
          <a:xfrm>
            <a:off x="705771" y="5843965"/>
            <a:ext cx="10927878" cy="852785"/>
            <a:chOff x="631908" y="5187057"/>
            <a:chExt cx="10927878" cy="852785"/>
          </a:xfrm>
        </p:grpSpPr>
        <p:sp>
          <p:nvSpPr>
            <p:cNvPr id="32" name="Shape 30"/>
            <p:cNvSpPr/>
            <p:nvPr/>
          </p:nvSpPr>
          <p:spPr>
            <a:xfrm>
              <a:off x="631908" y="5187057"/>
              <a:ext cx="10927878" cy="852785"/>
            </a:xfrm>
            <a:prstGeom prst="roundRect">
              <a:avLst>
                <a:gd name="adj" fmla="val 8003"/>
              </a:avLst>
            </a:prstGeom>
            <a:solidFill>
              <a:srgbClr val="F9D2D6"/>
            </a:solidFill>
            <a:ln/>
          </p:spPr>
          <p:txBody>
            <a:bodyPr/>
            <a:lstStyle/>
            <a:p>
              <a:endParaRPr lang="en-US" dirty="0"/>
            </a:p>
          </p:txBody>
        </p:sp>
        <p:pic>
          <p:nvPicPr>
            <p:cNvPr id="33" name="Image 0" descr="preencoded.png"/>
            <p:cNvPicPr>
              <a:picLocks noChangeAspect="1"/>
            </p:cNvPicPr>
            <p:nvPr/>
          </p:nvPicPr>
          <p:blipFill>
            <a:blip r:embed="rId3"/>
            <a:stretch>
              <a:fillRect/>
            </a:stretch>
          </p:blipFill>
          <p:spPr>
            <a:xfrm>
              <a:off x="794325" y="5396706"/>
              <a:ext cx="203096" cy="162421"/>
            </a:xfrm>
            <a:prstGeom prst="rect">
              <a:avLst/>
            </a:prstGeom>
          </p:spPr>
        </p:pic>
        <p:sp>
          <p:nvSpPr>
            <p:cNvPr id="34" name="Text 31"/>
            <p:cNvSpPr/>
            <p:nvPr/>
          </p:nvSpPr>
          <p:spPr>
            <a:xfrm>
              <a:off x="1159838" y="5373787"/>
              <a:ext cx="10237531" cy="493911"/>
            </a:xfrm>
            <a:prstGeom prst="rect">
              <a:avLst/>
            </a:prstGeom>
            <a:noFill/>
            <a:ln/>
          </p:spPr>
          <p:txBody>
            <a:bodyPr wrap="square" lIns="0" tIns="0" rIns="0" bIns="0" rtlCol="0" anchor="t">
              <a:normAutofit/>
            </a:bodyPr>
            <a:lstStyle/>
            <a:p>
              <a:pPr marL="0" indent="0" algn="l">
                <a:lnSpc>
                  <a:spcPct val="127000"/>
                </a:lnSpc>
                <a:buNone/>
              </a:pPr>
              <a:r>
                <a:rPr lang="en-US" sz="1250" b="1" i="1" dirty="0">
                  <a:solidFill>
                    <a:srgbClr val="000000"/>
                  </a:solidFill>
                  <a:latin typeface="Sora Bold" pitchFamily="34" charset="0"/>
                  <a:ea typeface="Sora Bold" pitchFamily="34" charset="-122"/>
                  <a:cs typeface="Sora Bold" pitchFamily="34" charset="-120"/>
                </a:rPr>
                <a:t>Technical Note:</a:t>
              </a:r>
              <a:r>
                <a:rPr lang="en-US" sz="1250" i="1" dirty="0">
                  <a:solidFill>
                    <a:srgbClr val="000000"/>
                  </a:solidFill>
                  <a:latin typeface="Sora Light" pitchFamily="34" charset="0"/>
                  <a:ea typeface="Sora Light" pitchFamily="34" charset="-122"/>
                  <a:cs typeface="Sora Light" pitchFamily="34" charset="-120"/>
                </a:rPr>
                <a:t> MAE improved from 8.83 → 3.26 units (63.0% reduction). RMSE improved 62.6%. MAPE improved 61.9%. Evaluated on temporally held-out test set to prevent data leakage. All metrics computed on unseen Nov–Dec 2024 period.</a:t>
              </a:r>
              <a:endParaRPr lang="en-US" sz="1250" dirty="0"/>
            </a:p>
          </p:txBody>
        </p:sp>
      </p:grpSp>
      <p:sp>
        <p:nvSpPr>
          <p:cNvPr id="36" name="Rectangle: Rounded Corners 35">
            <a:extLst>
              <a:ext uri="{FF2B5EF4-FFF2-40B4-BE49-F238E27FC236}">
                <a16:creationId xmlns:a16="http://schemas.microsoft.com/office/drawing/2014/main" id="{AC9BF7A5-5D87-D839-030B-3DEB799EFEC4}"/>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9" name="Picture 38">
            <a:extLst>
              <a:ext uri="{FF2B5EF4-FFF2-40B4-BE49-F238E27FC236}">
                <a16:creationId xmlns:a16="http://schemas.microsoft.com/office/drawing/2014/main" id="{C3B75942-C141-E8E8-E9A1-4A7DDB710F86}"/>
              </a:ext>
            </a:extLst>
          </p:cNvPr>
          <p:cNvPicPr>
            <a:picLocks noChangeAspect="1"/>
          </p:cNvPicPr>
          <p:nvPr/>
        </p:nvPicPr>
        <p:blipFill>
          <a:blip r:embed="rId4"/>
          <a:stretch>
            <a:fillRect/>
          </a:stretch>
        </p:blipFill>
        <p:spPr>
          <a:xfrm>
            <a:off x="4114769" y="758094"/>
            <a:ext cx="7949412" cy="44805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6617" y="100278"/>
            <a:ext cx="10927878" cy="593923"/>
          </a:xfrm>
          <a:prstGeom prst="rect">
            <a:avLst/>
          </a:prstGeom>
          <a:noFill/>
          <a:ln/>
        </p:spPr>
        <p:txBody>
          <a:bodyPr wrap="none" lIns="0" tIns="0" rIns="0" bIns="0" rtlCol="0" anchor="t"/>
          <a:lstStyle/>
          <a:p>
            <a:pPr marL="0" indent="0" algn="l">
              <a:lnSpc>
                <a:spcPct val="104000"/>
              </a:lnSpc>
              <a:buNone/>
            </a:pPr>
            <a:r>
              <a:rPr lang="en-US" sz="3700" dirty="0">
                <a:solidFill>
                  <a:srgbClr val="1F1E1E"/>
                </a:solidFill>
                <a:latin typeface="Sora SemiBold" pitchFamily="34" charset="0"/>
                <a:ea typeface="Sora SemiBold" pitchFamily="34" charset="-122"/>
                <a:cs typeface="Sora SemiBold" pitchFamily="34" charset="-120"/>
              </a:rPr>
              <a:t>A Real Example, One Product Line</a:t>
            </a:r>
            <a:endParaRPr lang="en-US" sz="3700" dirty="0"/>
          </a:p>
        </p:txBody>
      </p:sp>
      <p:sp>
        <p:nvSpPr>
          <p:cNvPr id="3" name="Text 1"/>
          <p:cNvSpPr/>
          <p:nvPr/>
        </p:nvSpPr>
        <p:spPr>
          <a:xfrm>
            <a:off x="756617" y="630800"/>
            <a:ext cx="10927878" cy="577850"/>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3B3535"/>
                </a:solidFill>
                <a:latin typeface="Sora Light" pitchFamily="34" charset="0"/>
                <a:ea typeface="Sora Light" pitchFamily="34" charset="-122"/>
                <a:cs typeface="Sora Light" pitchFamily="34" charset="-120"/>
              </a:rPr>
              <a:t>Here is what this looks like for one of your actual products over a two-month period. The </a:t>
            </a:r>
            <a:r>
              <a:rPr lang="en-US" sz="1400" b="1" dirty="0">
                <a:solidFill>
                  <a:srgbClr val="DA1B2E"/>
                </a:solidFill>
                <a:latin typeface="Sora Bold" pitchFamily="34" charset="0"/>
                <a:ea typeface="Sora Bold" pitchFamily="34" charset="-122"/>
                <a:cs typeface="Sora Bold" pitchFamily="34" charset="-120"/>
              </a:rPr>
              <a:t>orange line</a:t>
            </a:r>
            <a:r>
              <a:rPr lang="en-US" sz="1400" dirty="0">
                <a:solidFill>
                  <a:srgbClr val="3B3535"/>
                </a:solidFill>
                <a:latin typeface="Sora Light" pitchFamily="34" charset="0"/>
                <a:ea typeface="Sora Light" pitchFamily="34" charset="-122"/>
                <a:cs typeface="Sora Light" pitchFamily="34" charset="-120"/>
              </a:rPr>
              <a:t> is what we predicted in advance, the </a:t>
            </a:r>
            <a:r>
              <a:rPr lang="en-US" sz="1400" b="1" dirty="0">
                <a:solidFill>
                  <a:srgbClr val="3B3535"/>
                </a:solidFill>
                <a:latin typeface="Sora Bold" pitchFamily="34" charset="0"/>
                <a:ea typeface="Sora Bold" pitchFamily="34" charset="-122"/>
                <a:cs typeface="Sora Bold" pitchFamily="34" charset="-120"/>
              </a:rPr>
              <a:t>blue line</a:t>
            </a:r>
            <a:r>
              <a:rPr lang="en-US" sz="1400" dirty="0">
                <a:solidFill>
                  <a:srgbClr val="3B3535"/>
                </a:solidFill>
                <a:latin typeface="Sora Light" pitchFamily="34" charset="0"/>
                <a:ea typeface="Sora Light" pitchFamily="34" charset="-122"/>
                <a:cs typeface="Sora Light" pitchFamily="34" charset="-120"/>
              </a:rPr>
              <a:t> is what actually happened.</a:t>
            </a:r>
            <a:endParaRPr lang="en-US" sz="1400" dirty="0"/>
          </a:p>
        </p:txBody>
      </p:sp>
      <p:sp>
        <p:nvSpPr>
          <p:cNvPr id="7" name="Text 4"/>
          <p:cNvSpPr/>
          <p:nvPr/>
        </p:nvSpPr>
        <p:spPr>
          <a:xfrm>
            <a:off x="350525" y="4795506"/>
            <a:ext cx="10927878" cy="577850"/>
          </a:xfrm>
          <a:prstGeom prst="rect">
            <a:avLst/>
          </a:prstGeom>
          <a:noFill/>
          <a:ln/>
        </p:spPr>
        <p:txBody>
          <a:bodyPr wrap="square" lIns="0" tIns="0" rIns="0" bIns="0" rtlCol="0" anchor="t">
            <a:normAutofit/>
          </a:bodyPr>
          <a:lstStyle/>
          <a:p>
            <a:pPr marL="0" indent="0" algn="l">
              <a:lnSpc>
                <a:spcPct val="133000"/>
              </a:lnSpc>
              <a:buNone/>
            </a:pPr>
            <a:r>
              <a:rPr lang="en-US" sz="1400" b="1" dirty="0">
                <a:solidFill>
                  <a:srgbClr val="3B3535"/>
                </a:solidFill>
                <a:latin typeface="Sora Light" pitchFamily="34" charset="0"/>
                <a:ea typeface="Sora Light" pitchFamily="34" charset="-122"/>
                <a:cs typeface="Sora Light" pitchFamily="34" charset="-120"/>
              </a:rPr>
              <a:t>Even the dip to zero sales on one day was predicted correctly, because the model knew that specific product was completely out of stock that day.</a:t>
            </a:r>
            <a:endParaRPr lang="en-US" sz="1400" b="1" dirty="0"/>
          </a:p>
        </p:txBody>
      </p:sp>
      <p:grpSp>
        <p:nvGrpSpPr>
          <p:cNvPr id="19" name="Group 18">
            <a:extLst>
              <a:ext uri="{FF2B5EF4-FFF2-40B4-BE49-F238E27FC236}">
                <a16:creationId xmlns:a16="http://schemas.microsoft.com/office/drawing/2014/main" id="{DAED44A5-881A-E0A6-FC8B-ACDCD37B2D71}"/>
              </a:ext>
            </a:extLst>
          </p:cNvPr>
          <p:cNvGrpSpPr/>
          <p:nvPr/>
        </p:nvGrpSpPr>
        <p:grpSpPr>
          <a:xfrm>
            <a:off x="170050" y="5486118"/>
            <a:ext cx="10927878" cy="1299766"/>
            <a:chOff x="631908" y="4644529"/>
            <a:chExt cx="10927878" cy="1299766"/>
          </a:xfrm>
        </p:grpSpPr>
        <p:sp>
          <p:nvSpPr>
            <p:cNvPr id="8" name="Shape 5"/>
            <p:cNvSpPr/>
            <p:nvPr/>
          </p:nvSpPr>
          <p:spPr>
            <a:xfrm>
              <a:off x="631908" y="4644529"/>
              <a:ext cx="10927878" cy="1299766"/>
            </a:xfrm>
            <a:prstGeom prst="roundRect">
              <a:avLst>
                <a:gd name="adj" fmla="val 5834"/>
              </a:avLst>
            </a:prstGeom>
            <a:solidFill>
              <a:srgbClr val="B6D6FC"/>
            </a:solidFill>
            <a:ln/>
          </p:spPr>
          <p:txBody>
            <a:bodyPr/>
            <a:lstStyle/>
            <a:p>
              <a:endParaRPr lang="en-US"/>
            </a:p>
          </p:txBody>
        </p:sp>
        <p:pic>
          <p:nvPicPr>
            <p:cNvPr id="9" name="Image 1" descr="preencoded.png"/>
            <p:cNvPicPr>
              <a:picLocks noChangeAspect="1"/>
            </p:cNvPicPr>
            <p:nvPr/>
          </p:nvPicPr>
          <p:blipFill>
            <a:blip r:embed="rId3"/>
            <a:stretch>
              <a:fillRect/>
            </a:stretch>
          </p:blipFill>
          <p:spPr>
            <a:xfrm>
              <a:off x="812383" y="4902597"/>
              <a:ext cx="225618" cy="180479"/>
            </a:xfrm>
            <a:prstGeom prst="rect">
              <a:avLst/>
            </a:prstGeom>
          </p:spPr>
        </p:pic>
        <p:sp>
          <p:nvSpPr>
            <p:cNvPr id="10" name="Text 6"/>
            <p:cNvSpPr/>
            <p:nvPr/>
          </p:nvSpPr>
          <p:spPr>
            <a:xfrm>
              <a:off x="1218475" y="4870053"/>
              <a:ext cx="10160837" cy="866775"/>
            </a:xfrm>
            <a:prstGeom prst="rect">
              <a:avLst/>
            </a:prstGeom>
            <a:noFill/>
            <a:ln/>
          </p:spPr>
          <p:txBody>
            <a:bodyPr wrap="square" lIns="0" tIns="0" rIns="0" bIns="0" rtlCol="0" anchor="t">
              <a:normAutofit/>
            </a:bodyPr>
            <a:lstStyle/>
            <a:p>
              <a:pPr marL="0" indent="0" algn="l">
                <a:lnSpc>
                  <a:spcPct val="133000"/>
                </a:lnSpc>
                <a:buNone/>
              </a:pPr>
              <a:r>
                <a:rPr lang="en-US" sz="1400" b="1" dirty="0">
                  <a:solidFill>
                    <a:srgbClr val="000000"/>
                  </a:solidFill>
                  <a:latin typeface="Sora Bold" pitchFamily="34" charset="0"/>
                  <a:ea typeface="Sora Bold" pitchFamily="34" charset="-122"/>
                  <a:cs typeface="Sora Bold" pitchFamily="34" charset="-120"/>
                </a:rPr>
                <a:t>Technical Note:</a:t>
              </a:r>
              <a:r>
                <a:rPr lang="en-US" sz="1400" dirty="0">
                  <a:solidFill>
                    <a:srgbClr val="000000"/>
                  </a:solidFill>
                  <a:latin typeface="Sora Light" pitchFamily="34" charset="0"/>
                  <a:ea typeface="Sora Light" pitchFamily="34" charset="-122"/>
                  <a:cs typeface="Sora Light" pitchFamily="34" charset="-120"/>
                </a:rPr>
                <a:t> Example series: SKU RE-004, Retail channel, Nigeria-North region. Largest observed forecast errors occurred on promotion days with unusually large uplift, and one unexplained non-promotional demand spike, both disclosed honestly in the underlying analysis.</a:t>
              </a:r>
              <a:endParaRPr lang="en-US" sz="1400" dirty="0"/>
            </a:p>
          </p:txBody>
        </p:sp>
      </p:grpSp>
      <p:sp>
        <p:nvSpPr>
          <p:cNvPr id="12" name="Rectangle: Rounded Corners 11">
            <a:extLst>
              <a:ext uri="{FF2B5EF4-FFF2-40B4-BE49-F238E27FC236}">
                <a16:creationId xmlns:a16="http://schemas.microsoft.com/office/drawing/2014/main" id="{F35821BE-9459-08C3-C22F-D2A9779C941D}"/>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10385FB-EDEC-F756-3484-B9C3A696C186}"/>
              </a:ext>
            </a:extLst>
          </p:cNvPr>
          <p:cNvSpPr txBox="1"/>
          <p:nvPr/>
        </p:nvSpPr>
        <p:spPr>
          <a:xfrm>
            <a:off x="2070388" y="4455369"/>
            <a:ext cx="11297264" cy="293350"/>
          </a:xfrm>
          <a:prstGeom prst="rect">
            <a:avLst/>
          </a:prstGeom>
          <a:noFill/>
        </p:spPr>
        <p:txBody>
          <a:bodyPr wrap="square">
            <a:spAutoFit/>
          </a:bodyPr>
          <a:lstStyle/>
          <a:p>
            <a:pPr marL="0" indent="0" algn="l">
              <a:lnSpc>
                <a:spcPct val="133000"/>
              </a:lnSpc>
              <a:buNone/>
            </a:pPr>
            <a:r>
              <a:rPr lang="en-US" sz="1100" i="1" dirty="0">
                <a:solidFill>
                  <a:srgbClr val="000000"/>
                </a:solidFill>
                <a:latin typeface="Arial" panose="020B0604020202020204" pitchFamily="34" charset="0"/>
                <a:ea typeface="Sora Light" pitchFamily="34" charset="-122"/>
                <a:cs typeface="Arial" panose="020B0604020202020204" pitchFamily="34" charset="0"/>
              </a:rPr>
              <a:t>Source: Notebook Part 5, Section 5.2.</a:t>
            </a:r>
            <a:r>
              <a:rPr lang="en-US" sz="1100" i="1" dirty="0">
                <a:latin typeface="Arial" panose="020B0604020202020204" pitchFamily="34" charset="0"/>
                <a:cs typeface="Arial" panose="020B0604020202020204" pitchFamily="34" charset="0"/>
              </a:rPr>
              <a:t> (</a:t>
            </a:r>
            <a:r>
              <a:rPr lang="en-US" sz="1100" i="1" dirty="0">
                <a:solidFill>
                  <a:srgbClr val="000000"/>
                </a:solidFill>
                <a:latin typeface="Arial" panose="020B0604020202020204" pitchFamily="34" charset="0"/>
                <a:ea typeface="Sora Light" pitchFamily="34" charset="-122"/>
                <a:cs typeface="Arial" panose="020B0604020202020204" pitchFamily="34" charset="0"/>
              </a:rPr>
              <a:t> Retail channel, Nigeria-North region.)</a:t>
            </a:r>
            <a:endParaRPr lang="en-US" sz="1100" i="1" dirty="0">
              <a:latin typeface="Arial" panose="020B0604020202020204" pitchFamily="34" charset="0"/>
              <a:cs typeface="Arial" panose="020B0604020202020204" pitchFamily="34" charset="0"/>
            </a:endParaRPr>
          </a:p>
        </p:txBody>
      </p:sp>
      <p:pic>
        <p:nvPicPr>
          <p:cNvPr id="21" name="Picture 20">
            <a:extLst>
              <a:ext uri="{FF2B5EF4-FFF2-40B4-BE49-F238E27FC236}">
                <a16:creationId xmlns:a16="http://schemas.microsoft.com/office/drawing/2014/main" id="{F24217BC-5CE0-40E0-047A-2A06D2A6F440}"/>
              </a:ext>
            </a:extLst>
          </p:cNvPr>
          <p:cNvPicPr>
            <a:picLocks noChangeAspect="1"/>
          </p:cNvPicPr>
          <p:nvPr/>
        </p:nvPicPr>
        <p:blipFill>
          <a:blip r:embed="rId4"/>
          <a:stretch>
            <a:fillRect/>
          </a:stretch>
        </p:blipFill>
        <p:spPr>
          <a:xfrm>
            <a:off x="350525" y="1434174"/>
            <a:ext cx="11158733" cy="28137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2639" y="65331"/>
            <a:ext cx="10927878" cy="528935"/>
          </a:xfrm>
          <a:prstGeom prst="rect">
            <a:avLst/>
          </a:prstGeom>
          <a:noFill/>
          <a:ln/>
        </p:spPr>
        <p:txBody>
          <a:bodyPr wrap="none" lIns="0" tIns="0" rIns="0" bIns="0" rtlCol="0" anchor="t"/>
          <a:lstStyle/>
          <a:p>
            <a:pPr marL="0" indent="0" algn="l">
              <a:lnSpc>
                <a:spcPct val="104000"/>
              </a:lnSpc>
              <a:buNone/>
            </a:pPr>
            <a:r>
              <a:rPr lang="en-US" sz="3300" dirty="0">
                <a:solidFill>
                  <a:srgbClr val="1F1E1E"/>
                </a:solidFill>
                <a:latin typeface="Sora SemiBold" pitchFamily="34" charset="0"/>
                <a:ea typeface="Sora SemiBold" pitchFamily="34" charset="-122"/>
                <a:cs typeface="Sora SemiBold" pitchFamily="34" charset="-120"/>
              </a:rPr>
              <a:t>Turning Predictions Into Daily Decisions</a:t>
            </a:r>
            <a:endParaRPr lang="en-US" sz="3300" dirty="0"/>
          </a:p>
        </p:txBody>
      </p:sp>
      <p:sp>
        <p:nvSpPr>
          <p:cNvPr id="3" name="Text 1"/>
          <p:cNvSpPr/>
          <p:nvPr/>
        </p:nvSpPr>
        <p:spPr>
          <a:xfrm>
            <a:off x="705771" y="674489"/>
            <a:ext cx="10927878" cy="486370"/>
          </a:xfrm>
          <a:prstGeom prst="rect">
            <a:avLst/>
          </a:prstGeom>
          <a:noFill/>
          <a:ln/>
        </p:spPr>
        <p:txBody>
          <a:bodyPr wrap="square" lIns="0" tIns="0" rIns="0" bIns="0" rtlCol="0" anchor="t">
            <a:normAutofit/>
          </a:bodyPr>
          <a:lstStyle/>
          <a:p>
            <a:pPr marL="0" indent="0" algn="l">
              <a:lnSpc>
                <a:spcPct val="126000"/>
              </a:lnSpc>
              <a:buNone/>
            </a:pPr>
            <a:r>
              <a:rPr lang="en-US" sz="1250" dirty="0">
                <a:solidFill>
                  <a:srgbClr val="3B3535"/>
                </a:solidFill>
                <a:latin typeface="Sora Light" pitchFamily="34" charset="0"/>
                <a:ea typeface="Sora Light" pitchFamily="34" charset="-122"/>
                <a:cs typeface="Sora Light" pitchFamily="34" charset="-120"/>
              </a:rPr>
              <a:t>For every product, in every channel and region, we compare current stock against expected demand and sort it into one of four simple categories, so you always know where to look first.</a:t>
            </a:r>
            <a:endParaRPr lang="en-US" sz="1250" dirty="0"/>
          </a:p>
        </p:txBody>
      </p:sp>
      <p:sp>
        <p:nvSpPr>
          <p:cNvPr id="4" name="Shape 2"/>
          <p:cNvSpPr/>
          <p:nvPr/>
        </p:nvSpPr>
        <p:spPr>
          <a:xfrm>
            <a:off x="513990" y="1276102"/>
            <a:ext cx="10927878" cy="2098774"/>
          </a:xfrm>
          <a:prstGeom prst="roundRect">
            <a:avLst>
              <a:gd name="adj" fmla="val 3218"/>
            </a:avLst>
          </a:prstGeom>
          <a:solidFill>
            <a:srgbClr val="F9D2D6"/>
          </a:solidFill>
          <a:ln w="6350">
            <a:solidFill>
              <a:srgbClr val="DFB8BC"/>
            </a:solidFill>
            <a:prstDash val="solid"/>
          </a:ln>
        </p:spPr>
        <p:txBody>
          <a:bodyPr/>
          <a:lstStyle/>
          <a:p>
            <a:endParaRPr lang="en-US"/>
          </a:p>
        </p:txBody>
      </p:sp>
      <p:sp>
        <p:nvSpPr>
          <p:cNvPr id="5" name="Shape 3"/>
          <p:cNvSpPr/>
          <p:nvPr/>
        </p:nvSpPr>
        <p:spPr>
          <a:xfrm>
            <a:off x="520340" y="1238775"/>
            <a:ext cx="5457589" cy="1164630"/>
          </a:xfrm>
          <a:custGeom>
            <a:avLst/>
            <a:gdLst/>
            <a:ahLst/>
            <a:cxnLst/>
            <a:rect l="l" t="t" r="r" b="b"/>
            <a:pathLst>
              <a:path w="5457589" h="1164630">
                <a:moveTo>
                  <a:pt x="56280" y="0"/>
                </a:moveTo>
                <a:lnTo>
                  <a:pt x="5457589" y="0"/>
                </a:lnTo>
                <a:lnTo>
                  <a:pt x="5457589" y="1164630"/>
                </a:lnTo>
                <a:lnTo>
                  <a:pt x="0" y="1164630"/>
                </a:lnTo>
                <a:lnTo>
                  <a:pt x="0" y="56281"/>
                </a:lnTo>
                <a:arcTo wR="56280" hR="56281" stAng="10800000" swAng="5400000"/>
                <a:close/>
              </a:path>
            </a:pathLst>
          </a:custGeom>
          <a:solidFill>
            <a:srgbClr val="2E7D32"/>
          </a:solidFill>
          <a:ln/>
        </p:spPr>
        <p:txBody>
          <a:bodyPr/>
          <a:lstStyle/>
          <a:p>
            <a:endParaRPr lang="en-US"/>
          </a:p>
        </p:txBody>
      </p:sp>
      <p:sp>
        <p:nvSpPr>
          <p:cNvPr id="6" name="Text 4"/>
          <p:cNvSpPr/>
          <p:nvPr/>
        </p:nvSpPr>
        <p:spPr>
          <a:xfrm>
            <a:off x="705771" y="1287507"/>
            <a:ext cx="5136129" cy="270867"/>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Twemoji Mozilla" pitchFamily="34" charset="0"/>
                <a:ea typeface="Twemoji Mozilla" pitchFamily="34" charset="-122"/>
                <a:cs typeface="Twemoji Mozilla" pitchFamily="34" charset="-120"/>
              </a:rPr>
              <a:t>✅</a:t>
            </a:r>
            <a:r>
              <a:rPr lang="en-US" sz="1650" dirty="0">
                <a:solidFill>
                  <a:srgbClr val="FFFFFF"/>
                </a:solidFill>
                <a:latin typeface="Sora SemiBold" pitchFamily="34" charset="0"/>
                <a:ea typeface="Sora SemiBold" pitchFamily="34" charset="-122"/>
                <a:cs typeface="Sora SemiBold" pitchFamily="34" charset="-120"/>
              </a:rPr>
              <a:t> Healthy</a:t>
            </a:r>
            <a:endParaRPr lang="en-US" sz="1650" dirty="0"/>
          </a:p>
        </p:txBody>
      </p:sp>
      <p:sp>
        <p:nvSpPr>
          <p:cNvPr id="7" name="Text 5"/>
          <p:cNvSpPr/>
          <p:nvPr/>
        </p:nvSpPr>
        <p:spPr>
          <a:xfrm>
            <a:off x="705771" y="1577905"/>
            <a:ext cx="5136129" cy="486370"/>
          </a:xfrm>
          <a:prstGeom prst="rect">
            <a:avLst/>
          </a:prstGeom>
          <a:noFill/>
          <a:ln/>
        </p:spPr>
        <p:txBody>
          <a:bodyPr wrap="square" lIns="0" tIns="0" rIns="0" bIns="0" rtlCol="0" anchor="t">
            <a:normAutofit/>
          </a:bodyPr>
          <a:lstStyle/>
          <a:p>
            <a:pPr marL="0" indent="0" algn="l">
              <a:lnSpc>
                <a:spcPct val="126000"/>
              </a:lnSpc>
              <a:buNone/>
            </a:pPr>
            <a:r>
              <a:rPr lang="en-US" sz="1250" dirty="0">
                <a:solidFill>
                  <a:srgbClr val="FFFFFF"/>
                </a:solidFill>
                <a:latin typeface="Sora Light" pitchFamily="34" charset="0"/>
                <a:ea typeface="Sora Light" pitchFamily="34" charset="-122"/>
                <a:cs typeface="Sora Light" pitchFamily="34" charset="-120"/>
              </a:rPr>
              <a:t>Stock levels are well-matched to expected demand. No action needed.</a:t>
            </a:r>
            <a:endParaRPr lang="en-US" sz="1250" dirty="0"/>
          </a:p>
        </p:txBody>
      </p:sp>
      <p:sp>
        <p:nvSpPr>
          <p:cNvPr id="8" name="Shape 6"/>
          <p:cNvSpPr/>
          <p:nvPr/>
        </p:nvSpPr>
        <p:spPr>
          <a:xfrm>
            <a:off x="5977929" y="1248584"/>
            <a:ext cx="5457589" cy="1164630"/>
          </a:xfrm>
          <a:custGeom>
            <a:avLst/>
            <a:gdLst/>
            <a:ahLst/>
            <a:cxnLst/>
            <a:rect l="l" t="t" r="r" b="b"/>
            <a:pathLst>
              <a:path w="5457589" h="1164630">
                <a:moveTo>
                  <a:pt x="0" y="0"/>
                </a:moveTo>
                <a:lnTo>
                  <a:pt x="5401309" y="0"/>
                </a:lnTo>
                <a:arcTo wR="56280" hR="56281" stAng="16200000" swAng="5400000"/>
                <a:lnTo>
                  <a:pt x="5457589" y="1164630"/>
                </a:lnTo>
                <a:lnTo>
                  <a:pt x="0" y="1164630"/>
                </a:lnTo>
                <a:lnTo>
                  <a:pt x="0" y="0"/>
                </a:lnTo>
                <a:close/>
              </a:path>
            </a:pathLst>
          </a:custGeom>
          <a:solidFill>
            <a:srgbClr val="1565C0"/>
          </a:solidFill>
          <a:ln/>
        </p:spPr>
        <p:txBody>
          <a:bodyPr/>
          <a:lstStyle/>
          <a:p>
            <a:endParaRPr lang="en-US"/>
          </a:p>
        </p:txBody>
      </p:sp>
      <p:sp>
        <p:nvSpPr>
          <p:cNvPr id="9" name="Shape 7"/>
          <p:cNvSpPr/>
          <p:nvPr/>
        </p:nvSpPr>
        <p:spPr>
          <a:xfrm>
            <a:off x="6095848" y="1995884"/>
            <a:ext cx="19050" cy="1164630"/>
          </a:xfrm>
          <a:prstGeom prst="roundRect">
            <a:avLst>
              <a:gd name="adj" fmla="val 49999"/>
            </a:avLst>
          </a:prstGeom>
          <a:solidFill>
            <a:srgbClr val="2E7ED9"/>
          </a:solidFill>
          <a:ln/>
        </p:spPr>
        <p:txBody>
          <a:bodyPr/>
          <a:lstStyle/>
          <a:p>
            <a:endParaRPr lang="en-US"/>
          </a:p>
        </p:txBody>
      </p:sp>
      <p:sp>
        <p:nvSpPr>
          <p:cNvPr id="10" name="Text 8"/>
          <p:cNvSpPr/>
          <p:nvPr/>
        </p:nvSpPr>
        <p:spPr>
          <a:xfrm>
            <a:off x="6086015" y="1320960"/>
            <a:ext cx="5136129" cy="270867"/>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Twemoji Mozilla" pitchFamily="34" charset="0"/>
                <a:ea typeface="Twemoji Mozilla" pitchFamily="34" charset="-122"/>
                <a:cs typeface="Twemoji Mozilla" pitchFamily="34" charset="-120"/>
              </a:rPr>
              <a:t>📦</a:t>
            </a:r>
            <a:r>
              <a:rPr lang="en-US" sz="1650" dirty="0">
                <a:solidFill>
                  <a:srgbClr val="FFFFFF"/>
                </a:solidFill>
                <a:latin typeface="Sora SemiBold" pitchFamily="34" charset="0"/>
                <a:ea typeface="Sora SemiBold" pitchFamily="34" charset="-122"/>
                <a:cs typeface="Sora SemiBold" pitchFamily="34" charset="-120"/>
              </a:rPr>
              <a:t> Overstocked</a:t>
            </a:r>
            <a:endParaRPr lang="en-US" sz="1650" dirty="0"/>
          </a:p>
        </p:txBody>
      </p:sp>
      <p:sp>
        <p:nvSpPr>
          <p:cNvPr id="11" name="Text 9"/>
          <p:cNvSpPr/>
          <p:nvPr/>
        </p:nvSpPr>
        <p:spPr>
          <a:xfrm>
            <a:off x="6169710" y="1665992"/>
            <a:ext cx="5136129" cy="243185"/>
          </a:xfrm>
          <a:prstGeom prst="rect">
            <a:avLst/>
          </a:prstGeom>
          <a:noFill/>
          <a:ln/>
        </p:spPr>
        <p:txBody>
          <a:bodyPr wrap="none" lIns="0" tIns="0" rIns="0" bIns="0" rtlCol="0" anchor="t"/>
          <a:lstStyle/>
          <a:p>
            <a:pPr marL="0" indent="0" algn="l">
              <a:lnSpc>
                <a:spcPct val="126000"/>
              </a:lnSpc>
              <a:buNone/>
            </a:pPr>
            <a:r>
              <a:rPr lang="en-US" sz="1250" dirty="0">
                <a:solidFill>
                  <a:srgbClr val="FFFFFF"/>
                </a:solidFill>
                <a:latin typeface="Sora Light" pitchFamily="34" charset="0"/>
                <a:ea typeface="Sora Light" pitchFamily="34" charset="-122"/>
                <a:cs typeface="Sora Light" pitchFamily="34" charset="-120"/>
              </a:rPr>
              <a:t>More than 12 days of cover. Capital is tied up unnecessarily.</a:t>
            </a:r>
            <a:endParaRPr lang="en-US" sz="1250" dirty="0"/>
          </a:p>
        </p:txBody>
      </p:sp>
      <p:sp>
        <p:nvSpPr>
          <p:cNvPr id="12" name="Shape 10"/>
          <p:cNvSpPr/>
          <p:nvPr/>
        </p:nvSpPr>
        <p:spPr>
          <a:xfrm>
            <a:off x="564346" y="2413214"/>
            <a:ext cx="5457589" cy="921445"/>
          </a:xfrm>
          <a:custGeom>
            <a:avLst/>
            <a:gdLst/>
            <a:ahLst/>
            <a:cxnLst/>
            <a:rect l="l" t="t" r="r" b="b"/>
            <a:pathLst>
              <a:path w="5457589" h="921445">
                <a:moveTo>
                  <a:pt x="0" y="0"/>
                </a:moveTo>
                <a:lnTo>
                  <a:pt x="5457589" y="0"/>
                </a:lnTo>
                <a:lnTo>
                  <a:pt x="5457589" y="921445"/>
                </a:lnTo>
                <a:lnTo>
                  <a:pt x="56280" y="921445"/>
                </a:lnTo>
                <a:arcTo wR="56280" hR="56281" stAng="5400000" swAng="5400000"/>
                <a:lnTo>
                  <a:pt x="0" y="0"/>
                </a:lnTo>
                <a:close/>
              </a:path>
            </a:pathLst>
          </a:custGeom>
          <a:solidFill>
            <a:srgbClr val="E65100"/>
          </a:solidFill>
          <a:ln/>
        </p:spPr>
        <p:txBody>
          <a:bodyPr/>
          <a:lstStyle/>
          <a:p>
            <a:endParaRPr lang="en-US"/>
          </a:p>
        </p:txBody>
      </p:sp>
      <p:sp>
        <p:nvSpPr>
          <p:cNvPr id="13" name="Shape 11"/>
          <p:cNvSpPr/>
          <p:nvPr/>
        </p:nvSpPr>
        <p:spPr>
          <a:xfrm>
            <a:off x="638258" y="3160514"/>
            <a:ext cx="5457589" cy="19050"/>
          </a:xfrm>
          <a:prstGeom prst="roundRect">
            <a:avLst>
              <a:gd name="adj" fmla="val 49999"/>
            </a:avLst>
          </a:prstGeom>
          <a:solidFill>
            <a:srgbClr val="FF6A19"/>
          </a:solidFill>
          <a:ln/>
        </p:spPr>
        <p:txBody>
          <a:bodyPr/>
          <a:lstStyle/>
          <a:p>
            <a:endParaRPr lang="en-US"/>
          </a:p>
        </p:txBody>
      </p:sp>
      <p:sp>
        <p:nvSpPr>
          <p:cNvPr id="14" name="Text 12"/>
          <p:cNvSpPr/>
          <p:nvPr/>
        </p:nvSpPr>
        <p:spPr>
          <a:xfrm>
            <a:off x="681069" y="2437153"/>
            <a:ext cx="5136129" cy="270867"/>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Twemoji Mozilla" pitchFamily="34" charset="0"/>
                <a:ea typeface="Twemoji Mozilla" pitchFamily="34" charset="-122"/>
                <a:cs typeface="Twemoji Mozilla" pitchFamily="34" charset="-120"/>
              </a:rPr>
              <a:t>⚠️</a:t>
            </a:r>
            <a:r>
              <a:rPr lang="en-US" sz="1650" dirty="0">
                <a:solidFill>
                  <a:srgbClr val="FFFFFF"/>
                </a:solidFill>
                <a:latin typeface="Sora SemiBold" pitchFamily="34" charset="0"/>
                <a:ea typeface="Sora SemiBold" pitchFamily="34" charset="-122"/>
                <a:cs typeface="Sora SemiBold" pitchFamily="34" charset="-120"/>
              </a:rPr>
              <a:t> At Risk</a:t>
            </a:r>
            <a:endParaRPr lang="en-US" sz="1650" dirty="0"/>
          </a:p>
        </p:txBody>
      </p:sp>
      <p:sp>
        <p:nvSpPr>
          <p:cNvPr id="15" name="Text 13"/>
          <p:cNvSpPr/>
          <p:nvPr/>
        </p:nvSpPr>
        <p:spPr>
          <a:xfrm>
            <a:off x="681068" y="2823263"/>
            <a:ext cx="5136129" cy="243185"/>
          </a:xfrm>
          <a:prstGeom prst="rect">
            <a:avLst/>
          </a:prstGeom>
          <a:noFill/>
          <a:ln/>
        </p:spPr>
        <p:txBody>
          <a:bodyPr wrap="none" lIns="0" tIns="0" rIns="0" bIns="0" rtlCol="0" anchor="t"/>
          <a:lstStyle/>
          <a:p>
            <a:pPr marL="0" indent="0" algn="l">
              <a:lnSpc>
                <a:spcPct val="126000"/>
              </a:lnSpc>
              <a:buNone/>
            </a:pPr>
            <a:r>
              <a:rPr lang="en-US" sz="1250" dirty="0">
                <a:solidFill>
                  <a:srgbClr val="FFFFFF"/>
                </a:solidFill>
                <a:latin typeface="Sora Light" pitchFamily="34" charset="0"/>
                <a:ea typeface="Sora Light" pitchFamily="34" charset="-122"/>
                <a:cs typeface="Sora Light" pitchFamily="34" charset="-120"/>
              </a:rPr>
              <a:t>Fewer than 5 days of cover. A stockout is approaching.</a:t>
            </a:r>
            <a:endParaRPr lang="en-US" sz="1250" dirty="0"/>
          </a:p>
        </p:txBody>
      </p:sp>
      <p:sp>
        <p:nvSpPr>
          <p:cNvPr id="16" name="Shape 14"/>
          <p:cNvSpPr/>
          <p:nvPr/>
        </p:nvSpPr>
        <p:spPr>
          <a:xfrm>
            <a:off x="6008621" y="2393863"/>
            <a:ext cx="5457589" cy="921445"/>
          </a:xfrm>
          <a:custGeom>
            <a:avLst/>
            <a:gdLst/>
            <a:ahLst/>
            <a:cxnLst/>
            <a:rect l="l" t="t" r="r" b="b"/>
            <a:pathLst>
              <a:path w="5457589" h="921445">
                <a:moveTo>
                  <a:pt x="0" y="0"/>
                </a:moveTo>
                <a:lnTo>
                  <a:pt x="5457589" y="0"/>
                </a:lnTo>
                <a:lnTo>
                  <a:pt x="5457589" y="865163"/>
                </a:lnTo>
                <a:arcTo wR="56280" hR="56281" stAng="0" swAng="5400000"/>
                <a:lnTo>
                  <a:pt x="0" y="921445"/>
                </a:lnTo>
                <a:lnTo>
                  <a:pt x="0" y="0"/>
                </a:lnTo>
                <a:close/>
              </a:path>
            </a:pathLst>
          </a:custGeom>
          <a:solidFill>
            <a:srgbClr val="DA1B2E"/>
          </a:solidFill>
          <a:ln/>
        </p:spPr>
        <p:txBody>
          <a:bodyPr/>
          <a:lstStyle/>
          <a:p>
            <a:endParaRPr lang="en-US"/>
          </a:p>
        </p:txBody>
      </p:sp>
      <p:sp>
        <p:nvSpPr>
          <p:cNvPr id="17" name="Shape 15"/>
          <p:cNvSpPr/>
          <p:nvPr/>
        </p:nvSpPr>
        <p:spPr>
          <a:xfrm>
            <a:off x="6095848" y="3160514"/>
            <a:ext cx="19050" cy="921445"/>
          </a:xfrm>
          <a:prstGeom prst="roundRect">
            <a:avLst>
              <a:gd name="adj" fmla="val 49999"/>
            </a:avLst>
          </a:prstGeom>
          <a:solidFill>
            <a:srgbClr val="F33447"/>
          </a:solidFill>
          <a:ln/>
        </p:spPr>
        <p:txBody>
          <a:bodyPr/>
          <a:lstStyle/>
          <a:p>
            <a:endParaRPr lang="en-US"/>
          </a:p>
        </p:txBody>
      </p:sp>
      <p:sp>
        <p:nvSpPr>
          <p:cNvPr id="18" name="Shape 16"/>
          <p:cNvSpPr/>
          <p:nvPr/>
        </p:nvSpPr>
        <p:spPr>
          <a:xfrm>
            <a:off x="6095848" y="3160514"/>
            <a:ext cx="5457589" cy="19050"/>
          </a:xfrm>
          <a:prstGeom prst="roundRect">
            <a:avLst>
              <a:gd name="adj" fmla="val 49999"/>
            </a:avLst>
          </a:prstGeom>
          <a:solidFill>
            <a:srgbClr val="F33447"/>
          </a:solidFill>
          <a:ln/>
        </p:spPr>
        <p:txBody>
          <a:bodyPr/>
          <a:lstStyle/>
          <a:p>
            <a:endParaRPr lang="en-US"/>
          </a:p>
        </p:txBody>
      </p:sp>
      <p:sp>
        <p:nvSpPr>
          <p:cNvPr id="19" name="Text 17"/>
          <p:cNvSpPr/>
          <p:nvPr/>
        </p:nvSpPr>
        <p:spPr>
          <a:xfrm>
            <a:off x="6105373" y="2404961"/>
            <a:ext cx="5136129" cy="270867"/>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Twemoji Mozilla" pitchFamily="34" charset="0"/>
                <a:ea typeface="Twemoji Mozilla" pitchFamily="34" charset="-122"/>
                <a:cs typeface="Twemoji Mozilla" pitchFamily="34" charset="-120"/>
              </a:rPr>
              <a:t>🚨</a:t>
            </a:r>
            <a:r>
              <a:rPr lang="en-US" sz="1650" dirty="0">
                <a:solidFill>
                  <a:srgbClr val="FFFFFF"/>
                </a:solidFill>
                <a:latin typeface="Sora SemiBold" pitchFamily="34" charset="0"/>
                <a:ea typeface="Sora SemiBold" pitchFamily="34" charset="-122"/>
                <a:cs typeface="Sora SemiBold" pitchFamily="34" charset="-120"/>
              </a:rPr>
              <a:t> Stockout</a:t>
            </a:r>
            <a:endParaRPr lang="en-US" sz="1650" dirty="0"/>
          </a:p>
        </p:txBody>
      </p:sp>
      <p:sp>
        <p:nvSpPr>
          <p:cNvPr id="20" name="Text 18"/>
          <p:cNvSpPr/>
          <p:nvPr/>
        </p:nvSpPr>
        <p:spPr>
          <a:xfrm>
            <a:off x="6145590" y="2810547"/>
            <a:ext cx="5136129" cy="243185"/>
          </a:xfrm>
          <a:prstGeom prst="rect">
            <a:avLst/>
          </a:prstGeom>
          <a:noFill/>
          <a:ln/>
        </p:spPr>
        <p:txBody>
          <a:bodyPr wrap="none" lIns="0" tIns="0" rIns="0" bIns="0" rtlCol="0" anchor="t"/>
          <a:lstStyle/>
          <a:p>
            <a:pPr marL="0" indent="0" algn="l">
              <a:lnSpc>
                <a:spcPct val="126000"/>
              </a:lnSpc>
              <a:buNone/>
            </a:pPr>
            <a:r>
              <a:rPr lang="en-US" sz="1250" dirty="0">
                <a:solidFill>
                  <a:srgbClr val="FFFFFF"/>
                </a:solidFill>
                <a:latin typeface="Sora Light" pitchFamily="34" charset="0"/>
                <a:ea typeface="Sora Light" pitchFamily="34" charset="-122"/>
                <a:cs typeface="Sora Light" pitchFamily="34" charset="-120"/>
              </a:rPr>
              <a:t>No stock available. Sales are being lost right now.</a:t>
            </a:r>
            <a:endParaRPr lang="en-US" sz="1250" dirty="0"/>
          </a:p>
        </p:txBody>
      </p:sp>
      <p:pic>
        <p:nvPicPr>
          <p:cNvPr id="25" name="Image 1" descr="preencoded.png"/>
          <p:cNvPicPr>
            <a:picLocks noChangeAspect="1"/>
          </p:cNvPicPr>
          <p:nvPr/>
        </p:nvPicPr>
        <p:blipFill>
          <a:blip r:embed="rId3"/>
          <a:stretch>
            <a:fillRect/>
          </a:stretch>
        </p:blipFill>
        <p:spPr>
          <a:xfrm>
            <a:off x="792639" y="5456932"/>
            <a:ext cx="200913" cy="160734"/>
          </a:xfrm>
          <a:prstGeom prst="rect">
            <a:avLst/>
          </a:prstGeom>
        </p:spPr>
      </p:pic>
      <p:grpSp>
        <p:nvGrpSpPr>
          <p:cNvPr id="37" name="Group 36">
            <a:extLst>
              <a:ext uri="{FF2B5EF4-FFF2-40B4-BE49-F238E27FC236}">
                <a16:creationId xmlns:a16="http://schemas.microsoft.com/office/drawing/2014/main" id="{BDBECFDE-F825-5EFE-4E95-71B6C275B4FC}"/>
              </a:ext>
            </a:extLst>
          </p:cNvPr>
          <p:cNvGrpSpPr/>
          <p:nvPr/>
        </p:nvGrpSpPr>
        <p:grpSpPr>
          <a:xfrm>
            <a:off x="408344" y="4111436"/>
            <a:ext cx="3825518" cy="2259806"/>
            <a:chOff x="471179" y="4294998"/>
            <a:chExt cx="3825518" cy="2259806"/>
          </a:xfrm>
        </p:grpSpPr>
        <p:sp>
          <p:nvSpPr>
            <p:cNvPr id="24" name="Shape 21"/>
            <p:cNvSpPr/>
            <p:nvPr/>
          </p:nvSpPr>
          <p:spPr>
            <a:xfrm>
              <a:off x="471179" y="4294998"/>
              <a:ext cx="3825518" cy="2259806"/>
            </a:xfrm>
            <a:prstGeom prst="roundRect">
              <a:avLst>
                <a:gd name="adj" fmla="val 6242"/>
              </a:avLst>
            </a:prstGeom>
            <a:solidFill>
              <a:srgbClr val="B6D6FC"/>
            </a:solidFill>
            <a:ln/>
          </p:spPr>
          <p:txBody>
            <a:bodyPr/>
            <a:lstStyle/>
            <a:p>
              <a:endParaRPr lang="en-US"/>
            </a:p>
          </p:txBody>
        </p:sp>
        <p:sp>
          <p:nvSpPr>
            <p:cNvPr id="26" name="Text 22"/>
            <p:cNvSpPr/>
            <p:nvPr/>
          </p:nvSpPr>
          <p:spPr>
            <a:xfrm>
              <a:off x="544682" y="4450209"/>
              <a:ext cx="3663524" cy="2098246"/>
            </a:xfrm>
            <a:prstGeom prst="rect">
              <a:avLst/>
            </a:prstGeom>
            <a:noFill/>
            <a:ln/>
          </p:spPr>
          <p:txBody>
            <a:bodyPr wrap="square" lIns="0" tIns="0" rIns="0" bIns="0" rtlCol="0" anchor="t">
              <a:normAutofit/>
            </a:bodyPr>
            <a:lstStyle/>
            <a:p>
              <a:pPr marL="0" indent="0" algn="l">
                <a:lnSpc>
                  <a:spcPct val="126000"/>
                </a:lnSpc>
                <a:buNone/>
              </a:pPr>
              <a:r>
                <a:rPr lang="en-US" sz="1250" dirty="0">
                  <a:solidFill>
                    <a:srgbClr val="000000"/>
                  </a:solidFill>
                  <a:latin typeface="Sora Light" pitchFamily="34" charset="0"/>
                  <a:ea typeface="Sora Light" pitchFamily="34" charset="-122"/>
                  <a:cs typeface="Sora Light" pitchFamily="34" charset="-120"/>
                </a:rPr>
                <a:t>Days of cover = stock_available ÷ forecasted demand. At-risk threshold: under 5 days (maximum observed delivery lead time). Overstocked threshold: over 12 days (roughly double that lead time). Test period split: </a:t>
              </a:r>
              <a:r>
                <a:rPr lang="en-US" sz="1250" b="1" dirty="0">
                  <a:solidFill>
                    <a:srgbClr val="000000"/>
                  </a:solidFill>
                  <a:latin typeface="Sora Bold" pitchFamily="34" charset="0"/>
                  <a:ea typeface="Sora Bold" pitchFamily="34" charset="-122"/>
                  <a:cs typeface="Sora Bold" pitchFamily="34" charset="-120"/>
                </a:rPr>
                <a:t>81.8% Healthy · 12.7% Overstocked · 3.5% At Risk · 2.0% Stockout.</a:t>
              </a:r>
              <a:endParaRPr lang="en-US" sz="1250" dirty="0"/>
            </a:p>
          </p:txBody>
        </p:sp>
      </p:grpSp>
      <p:sp>
        <p:nvSpPr>
          <p:cNvPr id="28" name="Rectangle: Rounded Corners 27">
            <a:extLst>
              <a:ext uri="{FF2B5EF4-FFF2-40B4-BE49-F238E27FC236}">
                <a16:creationId xmlns:a16="http://schemas.microsoft.com/office/drawing/2014/main" id="{DF42E98C-4466-9FAA-77B9-AAAE9736B864}"/>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8D137935-7925-44FB-D7B7-593A510E586E}"/>
              </a:ext>
            </a:extLst>
          </p:cNvPr>
          <p:cNvPicPr>
            <a:picLocks noChangeAspect="1"/>
          </p:cNvPicPr>
          <p:nvPr/>
        </p:nvPicPr>
        <p:blipFill>
          <a:blip r:embed="rId4"/>
          <a:stretch>
            <a:fillRect/>
          </a:stretch>
        </p:blipFill>
        <p:spPr>
          <a:xfrm>
            <a:off x="4456163" y="3501206"/>
            <a:ext cx="7176167" cy="3208693"/>
          </a:xfrm>
          <a:prstGeom prst="rect">
            <a:avLst/>
          </a:prstGeom>
        </p:spPr>
      </p:pic>
      <p:sp>
        <p:nvSpPr>
          <p:cNvPr id="36" name="TextBox 35">
            <a:extLst>
              <a:ext uri="{FF2B5EF4-FFF2-40B4-BE49-F238E27FC236}">
                <a16:creationId xmlns:a16="http://schemas.microsoft.com/office/drawing/2014/main" id="{0B51DE72-8FA2-0F63-8F00-4D291F19B80C}"/>
              </a:ext>
            </a:extLst>
          </p:cNvPr>
          <p:cNvSpPr txBox="1"/>
          <p:nvPr/>
        </p:nvSpPr>
        <p:spPr>
          <a:xfrm>
            <a:off x="186043" y="6463454"/>
            <a:ext cx="4656583" cy="284437"/>
          </a:xfrm>
          <a:prstGeom prst="rect">
            <a:avLst/>
          </a:prstGeom>
          <a:noFill/>
        </p:spPr>
        <p:txBody>
          <a:bodyPr wrap="square">
            <a:spAutoFit/>
          </a:bodyPr>
          <a:lstStyle/>
          <a:p>
            <a:pPr marL="0" indent="0" algn="l">
              <a:lnSpc>
                <a:spcPct val="126000"/>
              </a:lnSpc>
              <a:buNone/>
            </a:pPr>
            <a:r>
              <a:rPr lang="en-US" sz="1100" i="1" dirty="0">
                <a:solidFill>
                  <a:srgbClr val="000000"/>
                </a:solidFill>
                <a:latin typeface="Arial" panose="020B0604020202020204" pitchFamily="34" charset="0"/>
                <a:ea typeface="Sora Light" pitchFamily="34" charset="-122"/>
                <a:cs typeface="Arial" panose="020B0604020202020204" pitchFamily="34" charset="0"/>
              </a:rPr>
              <a:t>Source: Notebook Part 4, Section 4.8 (stock status distribution chart.)</a:t>
            </a:r>
            <a:endParaRPr lang="en-US" sz="1100" i="1"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5771" y="327850"/>
            <a:ext cx="10927878" cy="584597"/>
          </a:xfrm>
          <a:prstGeom prst="rect">
            <a:avLst/>
          </a:prstGeom>
          <a:noFill/>
          <a:ln/>
        </p:spPr>
        <p:txBody>
          <a:bodyPr wrap="none" lIns="0" tIns="0" rIns="0" bIns="0" rtlCol="0" anchor="t"/>
          <a:lstStyle/>
          <a:p>
            <a:pPr marL="0" indent="0" algn="l">
              <a:lnSpc>
                <a:spcPct val="104000"/>
              </a:lnSpc>
              <a:buNone/>
            </a:pPr>
            <a:r>
              <a:rPr lang="en-US" sz="3650" dirty="0">
                <a:solidFill>
                  <a:srgbClr val="1F1E1E"/>
                </a:solidFill>
                <a:latin typeface="Sora SemiBold" pitchFamily="34" charset="0"/>
                <a:ea typeface="Sora SemiBold" pitchFamily="34" charset="-122"/>
                <a:cs typeface="Sora SemiBold" pitchFamily="34" charset="-120"/>
              </a:rPr>
              <a:t>The One Finding That Matters Most</a:t>
            </a:r>
            <a:endParaRPr lang="en-US" sz="3650" dirty="0"/>
          </a:p>
        </p:txBody>
      </p:sp>
      <p:sp>
        <p:nvSpPr>
          <p:cNvPr id="3" name="Text 1"/>
          <p:cNvSpPr/>
          <p:nvPr/>
        </p:nvSpPr>
        <p:spPr>
          <a:xfrm>
            <a:off x="631908" y="1575594"/>
            <a:ext cx="5247152" cy="292298"/>
          </a:xfrm>
          <a:prstGeom prst="rect">
            <a:avLst/>
          </a:prstGeom>
          <a:noFill/>
          <a:ln/>
        </p:spPr>
        <p:txBody>
          <a:bodyPr wrap="none" lIns="0" tIns="0" rIns="0" bIns="0" rtlCol="0" anchor="t"/>
          <a:lstStyle/>
          <a:p>
            <a:pPr marL="0" indent="0" algn="l">
              <a:lnSpc>
                <a:spcPct val="104000"/>
              </a:lnSpc>
              <a:buNone/>
            </a:pPr>
            <a:r>
              <a:rPr lang="en-US" sz="1800" dirty="0">
                <a:solidFill>
                  <a:srgbClr val="DA1B2E"/>
                </a:solidFill>
                <a:latin typeface="Sora SemiBold" pitchFamily="34" charset="0"/>
                <a:ea typeface="Sora SemiBold" pitchFamily="34" charset="-122"/>
                <a:cs typeface="Sora SemiBold" pitchFamily="34" charset="-120"/>
              </a:rPr>
              <a:t>Ready Meals </a:t>
            </a:r>
            <a:r>
              <a:rPr lang="en-US" dirty="0">
                <a:solidFill>
                  <a:srgbClr val="DA1B2E"/>
                </a:solidFill>
                <a:latin typeface="Sora SemiBold" pitchFamily="34" charset="0"/>
                <a:ea typeface="Sora SemiBold" pitchFamily="34" charset="-122"/>
                <a:cs typeface="Sora SemiBold" pitchFamily="34" charset="-120"/>
              </a:rPr>
              <a:t> (</a:t>
            </a:r>
            <a:r>
              <a:rPr lang="en-US" sz="1800" dirty="0">
                <a:solidFill>
                  <a:srgbClr val="DA1B2E"/>
                </a:solidFill>
                <a:latin typeface="Sora SemiBold" pitchFamily="34" charset="0"/>
                <a:ea typeface="Sora SemiBold" pitchFamily="34" charset="-122"/>
                <a:cs typeface="Sora SemiBold" pitchFamily="34" charset="-120"/>
              </a:rPr>
              <a:t>Running Out Too Often)</a:t>
            </a:r>
            <a:endParaRPr lang="en-US" sz="1800" dirty="0"/>
          </a:p>
        </p:txBody>
      </p:sp>
      <p:sp>
        <p:nvSpPr>
          <p:cNvPr id="4" name="Text 2"/>
          <p:cNvSpPr/>
          <p:nvPr/>
        </p:nvSpPr>
        <p:spPr>
          <a:xfrm>
            <a:off x="631908" y="2042815"/>
            <a:ext cx="5247152" cy="1567755"/>
          </a:xfrm>
          <a:prstGeom prst="rect">
            <a:avLst/>
          </a:prstGeom>
          <a:noFill/>
          <a:ln/>
        </p:spPr>
        <p:txBody>
          <a:bodyPr wrap="square" lIns="0" tIns="0" rIns="0" bIns="0" rtlCol="0" anchor="t">
            <a:normAutofit/>
          </a:bodyPr>
          <a:lstStyle/>
          <a:p>
            <a:pPr marL="0" indent="0" algn="l">
              <a:lnSpc>
                <a:spcPct val="132000"/>
              </a:lnSpc>
              <a:spcAft>
                <a:spcPts val="1200"/>
              </a:spcAft>
              <a:buNone/>
            </a:pPr>
            <a:r>
              <a:rPr lang="en-US" sz="1350" dirty="0">
                <a:solidFill>
                  <a:srgbClr val="3B3535"/>
                </a:solidFill>
                <a:latin typeface="Sora Light" pitchFamily="34" charset="0"/>
                <a:ea typeface="Sora Light" pitchFamily="34" charset="-122"/>
                <a:cs typeface="Sora Light" pitchFamily="34" charset="-120"/>
              </a:rPr>
              <a:t>This product line runs out of stock </a:t>
            </a:r>
            <a:r>
              <a:rPr lang="en-US" sz="1350" b="1" dirty="0">
                <a:solidFill>
                  <a:srgbClr val="3B3535"/>
                </a:solidFill>
                <a:latin typeface="Sora Bold" pitchFamily="34" charset="0"/>
                <a:ea typeface="Sora Bold" pitchFamily="34" charset="-122"/>
                <a:cs typeface="Sora Bold" pitchFamily="34" charset="-120"/>
              </a:rPr>
              <a:t>far more often than any other</a:t>
            </a:r>
            <a:r>
              <a:rPr lang="en-US" sz="1350" b="1" dirty="0">
                <a:solidFill>
                  <a:srgbClr val="3B3535"/>
                </a:solidFill>
                <a:latin typeface="Sora Light" pitchFamily="34" charset="0"/>
                <a:ea typeface="Sora Bold" pitchFamily="34" charset="-122"/>
                <a:cs typeface="Sora Light" pitchFamily="34" charset="-120"/>
              </a:rPr>
              <a:t>, </a:t>
            </a:r>
            <a:r>
              <a:rPr lang="en-US" sz="1350" dirty="0">
                <a:solidFill>
                  <a:srgbClr val="3B3535"/>
                </a:solidFill>
                <a:latin typeface="Sora Light" pitchFamily="34" charset="0"/>
                <a:ea typeface="Sora Light" pitchFamily="34" charset="-122"/>
                <a:cs typeface="Sora Light" pitchFamily="34" charset="-120"/>
              </a:rPr>
              <a:t>more than three times the rate of the next closest category.</a:t>
            </a:r>
            <a:endParaRPr lang="en-US" sz="1350" dirty="0"/>
          </a:p>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Flagged </a:t>
            </a:r>
            <a:r>
              <a:rPr lang="en-US" sz="1350" b="1" dirty="0">
                <a:solidFill>
                  <a:srgbClr val="3B3535"/>
                </a:solidFill>
                <a:latin typeface="Sora Bold" pitchFamily="34" charset="0"/>
                <a:ea typeface="Sora Bold" pitchFamily="34" charset="-122"/>
                <a:cs typeface="Sora Bold" pitchFamily="34" charset="-120"/>
              </a:rPr>
              <a:t>At Risk in 11.85%</a:t>
            </a:r>
            <a:r>
              <a:rPr lang="en-US" sz="1350" dirty="0">
                <a:solidFill>
                  <a:srgbClr val="3B3535"/>
                </a:solidFill>
                <a:latin typeface="Sora Light" pitchFamily="34" charset="0"/>
                <a:ea typeface="Sora Light" pitchFamily="34" charset="-122"/>
                <a:cs typeface="Sora Light" pitchFamily="34" charset="-120"/>
              </a:rPr>
              <a:t> of test rows, versus 4.62% for the next-highest category. This is where sales are being lost.</a:t>
            </a:r>
            <a:endParaRPr lang="en-US" sz="1350" dirty="0"/>
          </a:p>
        </p:txBody>
      </p:sp>
      <p:sp>
        <p:nvSpPr>
          <p:cNvPr id="5" name="Shape 3"/>
          <p:cNvSpPr/>
          <p:nvPr/>
        </p:nvSpPr>
        <p:spPr>
          <a:xfrm>
            <a:off x="631908" y="3851672"/>
            <a:ext cx="5247152" cy="19050"/>
          </a:xfrm>
          <a:prstGeom prst="roundRect">
            <a:avLst>
              <a:gd name="adj" fmla="val 49999"/>
            </a:avLst>
          </a:prstGeom>
          <a:solidFill>
            <a:srgbClr val="3B3535">
              <a:alpha val="50000"/>
            </a:srgbClr>
          </a:solidFill>
          <a:ln/>
        </p:spPr>
        <p:txBody>
          <a:bodyPr/>
          <a:lstStyle/>
          <a:p>
            <a:endParaRPr lang="en-US"/>
          </a:p>
        </p:txBody>
      </p:sp>
      <p:sp>
        <p:nvSpPr>
          <p:cNvPr id="6" name="Text 4"/>
          <p:cNvSpPr/>
          <p:nvPr/>
        </p:nvSpPr>
        <p:spPr>
          <a:xfrm>
            <a:off x="631908" y="4111823"/>
            <a:ext cx="5247152" cy="292298"/>
          </a:xfrm>
          <a:prstGeom prst="rect">
            <a:avLst/>
          </a:prstGeom>
          <a:noFill/>
          <a:ln/>
        </p:spPr>
        <p:txBody>
          <a:bodyPr wrap="none" lIns="0" tIns="0" rIns="0" bIns="0" rtlCol="0" anchor="t"/>
          <a:lstStyle/>
          <a:p>
            <a:pPr marL="0" indent="0" algn="l">
              <a:lnSpc>
                <a:spcPct val="104000"/>
              </a:lnSpc>
              <a:buNone/>
            </a:pPr>
            <a:r>
              <a:rPr lang="en-US" sz="1800" dirty="0">
                <a:solidFill>
                  <a:srgbClr val="790C1C"/>
                </a:solidFill>
                <a:latin typeface="Sora SemiBold" pitchFamily="34" charset="0"/>
                <a:ea typeface="Sora SemiBold" pitchFamily="34" charset="-122"/>
                <a:cs typeface="Sora SemiBold" pitchFamily="34" charset="-120"/>
              </a:rPr>
              <a:t>Juice </a:t>
            </a:r>
            <a:r>
              <a:rPr lang="en-US" dirty="0">
                <a:solidFill>
                  <a:srgbClr val="790C1C"/>
                </a:solidFill>
                <a:latin typeface="Sora SemiBold" pitchFamily="34" charset="0"/>
                <a:ea typeface="Sora SemiBold" pitchFamily="34" charset="-122"/>
                <a:cs typeface="Sora SemiBold" pitchFamily="34" charset="-120"/>
              </a:rPr>
              <a:t>(</a:t>
            </a:r>
            <a:r>
              <a:rPr lang="en-US" sz="1800" dirty="0">
                <a:solidFill>
                  <a:srgbClr val="790C1C"/>
                </a:solidFill>
                <a:latin typeface="Sora SemiBold" pitchFamily="34" charset="0"/>
                <a:ea typeface="Sora SemiBold" pitchFamily="34" charset="-122"/>
                <a:cs typeface="Sora SemiBold" pitchFamily="34" charset="-120"/>
              </a:rPr>
              <a:t>Too Much Stock Sitting Idle)</a:t>
            </a:r>
            <a:endParaRPr lang="en-US" sz="1800" dirty="0"/>
          </a:p>
        </p:txBody>
      </p:sp>
      <p:sp>
        <p:nvSpPr>
          <p:cNvPr id="7" name="Text 5"/>
          <p:cNvSpPr/>
          <p:nvPr/>
        </p:nvSpPr>
        <p:spPr>
          <a:xfrm>
            <a:off x="631908" y="4579045"/>
            <a:ext cx="5247152" cy="1567755"/>
          </a:xfrm>
          <a:prstGeom prst="rect">
            <a:avLst/>
          </a:prstGeom>
          <a:noFill/>
          <a:ln/>
        </p:spPr>
        <p:txBody>
          <a:bodyPr wrap="square" lIns="0" tIns="0" rIns="0" bIns="0" rtlCol="0" anchor="t">
            <a:normAutofit/>
          </a:bodyPr>
          <a:lstStyle/>
          <a:p>
            <a:pPr marL="0" indent="0" algn="l">
              <a:lnSpc>
                <a:spcPct val="132000"/>
              </a:lnSpc>
              <a:spcAft>
                <a:spcPts val="1200"/>
              </a:spcAft>
              <a:buNone/>
            </a:pPr>
            <a:r>
              <a:rPr lang="en-US" sz="1350" dirty="0">
                <a:solidFill>
                  <a:srgbClr val="3B3535"/>
                </a:solidFill>
                <a:latin typeface="Sora Light" pitchFamily="34" charset="0"/>
                <a:ea typeface="Sora Light" pitchFamily="34" charset="-122"/>
                <a:cs typeface="Sora Light" pitchFamily="34" charset="-120"/>
              </a:rPr>
              <a:t>This line is significantly overstocked, </a:t>
            </a:r>
            <a:r>
              <a:rPr lang="en-US" sz="1350" b="1" dirty="0">
                <a:solidFill>
                  <a:srgbClr val="3B3535"/>
                </a:solidFill>
                <a:latin typeface="Sora Bold" pitchFamily="34" charset="0"/>
                <a:ea typeface="Sora Bold" pitchFamily="34" charset="-122"/>
                <a:cs typeface="Sora Bold" pitchFamily="34" charset="-120"/>
              </a:rPr>
              <a:t>tying up money</a:t>
            </a:r>
            <a:r>
              <a:rPr lang="en-US" sz="1350" dirty="0">
                <a:solidFill>
                  <a:srgbClr val="3B3535"/>
                </a:solidFill>
                <a:latin typeface="Sora Light" pitchFamily="34" charset="0"/>
                <a:ea typeface="Sora Light" pitchFamily="34" charset="-122"/>
                <a:cs typeface="Sora Light" pitchFamily="34" charset="-120"/>
              </a:rPr>
              <a:t> that could be working elsewhere in the business.</a:t>
            </a:r>
            <a:endParaRPr lang="en-US" sz="1350" dirty="0"/>
          </a:p>
          <a:p>
            <a:pPr marL="0" indent="0" algn="l">
              <a:lnSpc>
                <a:spcPct val="132000"/>
              </a:lnSpc>
              <a:buNone/>
            </a:pPr>
            <a:r>
              <a:rPr lang="en-US" sz="1350" dirty="0">
                <a:solidFill>
                  <a:srgbClr val="3B3535"/>
                </a:solidFill>
                <a:latin typeface="Sora Light" pitchFamily="34" charset="0"/>
                <a:ea typeface="Sora Light" pitchFamily="34" charset="-122"/>
                <a:cs typeface="Sora Light" pitchFamily="34" charset="-120"/>
              </a:rPr>
              <a:t>Flagged </a:t>
            </a:r>
            <a:r>
              <a:rPr lang="en-US" sz="1350" b="1" dirty="0">
                <a:solidFill>
                  <a:srgbClr val="3B3535"/>
                </a:solidFill>
                <a:latin typeface="Sora Bold" pitchFamily="34" charset="0"/>
                <a:ea typeface="Sora Bold" pitchFamily="34" charset="-122"/>
                <a:cs typeface="Sora Bold" pitchFamily="34" charset="-120"/>
              </a:rPr>
              <a:t>Overstocked in 40.26%</a:t>
            </a:r>
            <a:r>
              <a:rPr lang="en-US" sz="1350" dirty="0">
                <a:solidFill>
                  <a:srgbClr val="3B3535"/>
                </a:solidFill>
                <a:latin typeface="Sora Light" pitchFamily="34" charset="0"/>
                <a:ea typeface="Sora Light" pitchFamily="34" charset="-122"/>
                <a:cs typeface="Sora Light" pitchFamily="34" charset="-120"/>
              </a:rPr>
              <a:t> of test rows. Channel and region showed no meaningful variation; the actionable signal is concentrated entirely at the </a:t>
            </a:r>
            <a:r>
              <a:rPr lang="en-US" sz="1350" b="1" dirty="0">
                <a:solidFill>
                  <a:srgbClr val="3B3535"/>
                </a:solidFill>
                <a:latin typeface="Sora Bold" pitchFamily="34" charset="0"/>
                <a:ea typeface="Sora Bold" pitchFamily="34" charset="-122"/>
                <a:cs typeface="Sora Bold" pitchFamily="34" charset="-120"/>
              </a:rPr>
              <a:t>category level</a:t>
            </a:r>
            <a:r>
              <a:rPr lang="en-US" sz="1350" dirty="0">
                <a:solidFill>
                  <a:srgbClr val="3B3535"/>
                </a:solidFill>
                <a:latin typeface="Sora Light" pitchFamily="34" charset="0"/>
                <a:ea typeface="Sora Light" pitchFamily="34" charset="-122"/>
                <a:cs typeface="Sora Light" pitchFamily="34" charset="-120"/>
              </a:rPr>
              <a:t>.</a:t>
            </a:r>
            <a:endParaRPr lang="en-US" sz="1350" dirty="0"/>
          </a:p>
        </p:txBody>
      </p:sp>
      <p:pic>
        <p:nvPicPr>
          <p:cNvPr id="12" name="Image 1" descr="preencoded.png"/>
          <p:cNvPicPr>
            <a:picLocks noChangeAspect="1"/>
          </p:cNvPicPr>
          <p:nvPr/>
        </p:nvPicPr>
        <p:blipFill>
          <a:blip r:embed="rId3"/>
          <a:stretch>
            <a:fillRect/>
          </a:stretch>
        </p:blipFill>
        <p:spPr>
          <a:xfrm>
            <a:off x="6165542" y="4950535"/>
            <a:ext cx="222145" cy="177701"/>
          </a:xfrm>
          <a:prstGeom prst="rect">
            <a:avLst/>
          </a:prstGeom>
        </p:spPr>
      </p:pic>
      <p:sp>
        <p:nvSpPr>
          <p:cNvPr id="15" name="Rectangle: Rounded Corners 14">
            <a:extLst>
              <a:ext uri="{FF2B5EF4-FFF2-40B4-BE49-F238E27FC236}">
                <a16:creationId xmlns:a16="http://schemas.microsoft.com/office/drawing/2014/main" id="{E6180B7A-2C2F-8421-3C8D-BC89F95FF284}"/>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7F5B76B-1AE1-F8DA-6471-F534DB49EEFC}"/>
              </a:ext>
            </a:extLst>
          </p:cNvPr>
          <p:cNvSpPr txBox="1"/>
          <p:nvPr/>
        </p:nvSpPr>
        <p:spPr>
          <a:xfrm>
            <a:off x="5879060" y="6531785"/>
            <a:ext cx="6096000" cy="292068"/>
          </a:xfrm>
          <a:prstGeom prst="rect">
            <a:avLst/>
          </a:prstGeom>
          <a:noFill/>
        </p:spPr>
        <p:txBody>
          <a:bodyPr wrap="square">
            <a:spAutoFit/>
          </a:bodyPr>
          <a:lstStyle/>
          <a:p>
            <a:pPr marL="0" indent="0" algn="l">
              <a:lnSpc>
                <a:spcPct val="132000"/>
              </a:lnSpc>
              <a:buNone/>
            </a:pPr>
            <a:r>
              <a:rPr lang="en-US" sz="1100" i="1" dirty="0">
                <a:solidFill>
                  <a:srgbClr val="000000"/>
                </a:solidFill>
                <a:latin typeface="Arial" panose="020B0604020202020204" pitchFamily="34" charset="0"/>
                <a:ea typeface="Sora Light" pitchFamily="34" charset="-122"/>
                <a:cs typeface="Arial" panose="020B0604020202020204" pitchFamily="34" charset="0"/>
              </a:rPr>
              <a:t>Source: Notebook Part 5, Section 5.6 (category-level stock status breakdown)</a:t>
            </a:r>
            <a:endParaRPr lang="en-US" sz="1100" i="1" dirty="0">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DF2C99F1-9918-E0F2-2D55-6BE447BBD680}"/>
              </a:ext>
            </a:extLst>
          </p:cNvPr>
          <p:cNvPicPr>
            <a:picLocks noChangeAspect="1"/>
          </p:cNvPicPr>
          <p:nvPr/>
        </p:nvPicPr>
        <p:blipFill>
          <a:blip r:embed="rId4"/>
          <a:stretch>
            <a:fillRect/>
          </a:stretch>
        </p:blipFill>
        <p:spPr>
          <a:xfrm>
            <a:off x="5680728" y="1087371"/>
            <a:ext cx="5879058" cy="53949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908" y="497979"/>
            <a:ext cx="10927878" cy="965002"/>
          </a:xfrm>
          <a:prstGeom prst="rect">
            <a:avLst/>
          </a:prstGeom>
          <a:noFill/>
          <a:ln/>
        </p:spPr>
        <p:txBody>
          <a:bodyPr wrap="square" lIns="0" tIns="0" rIns="0" bIns="0" rtlCol="0" anchor="t">
            <a:normAutofit/>
          </a:bodyPr>
          <a:lstStyle/>
          <a:p>
            <a:pPr marL="0" indent="0" algn="l">
              <a:lnSpc>
                <a:spcPct val="104000"/>
              </a:lnSpc>
              <a:buNone/>
            </a:pPr>
            <a:r>
              <a:rPr lang="en-US" sz="3000" dirty="0">
                <a:solidFill>
                  <a:srgbClr val="1F1E1E"/>
                </a:solidFill>
                <a:latin typeface="Sora SemiBold" pitchFamily="34" charset="0"/>
                <a:ea typeface="Sora SemiBold" pitchFamily="34" charset="-122"/>
                <a:cs typeface="Sora SemiBold" pitchFamily="34" charset="-120"/>
              </a:rPr>
              <a:t>Being Upfront About What This Tool Can and Cannot Do Yet</a:t>
            </a:r>
            <a:endParaRPr lang="en-US" sz="3000" dirty="0"/>
          </a:p>
        </p:txBody>
      </p:sp>
      <p:sp>
        <p:nvSpPr>
          <p:cNvPr id="3" name="Text 1"/>
          <p:cNvSpPr/>
          <p:nvPr/>
        </p:nvSpPr>
        <p:spPr>
          <a:xfrm>
            <a:off x="631908" y="1701304"/>
            <a:ext cx="11537463" cy="212725"/>
          </a:xfrm>
          <a:prstGeom prst="rect">
            <a:avLst/>
          </a:prstGeom>
          <a:noFill/>
          <a:ln/>
        </p:spPr>
        <p:txBody>
          <a:bodyPr wrap="none" lIns="0" tIns="0" rIns="0" bIns="0" rtlCol="0" anchor="t"/>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Every honest tool comes with a clear account of its limits. Here is ours.</a:t>
            </a:r>
            <a:endParaRPr lang="en-US" sz="11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2182118"/>
            <a:ext cx="5285052" cy="1117203"/>
          </a:xfrm>
          <a:prstGeom prst="rect">
            <a:avLst/>
          </a:prstGeom>
        </p:spPr>
      </p:pic>
      <p:sp>
        <p:nvSpPr>
          <p:cNvPr id="5" name="Text 2"/>
          <p:cNvSpPr/>
          <p:nvPr/>
        </p:nvSpPr>
        <p:spPr>
          <a:xfrm>
            <a:off x="873798" y="2347813"/>
            <a:ext cx="4877472" cy="24120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Accurate day-to-day forecasting</a:t>
            </a:r>
            <a:endParaRPr lang="en-US" sz="1500" dirty="0"/>
          </a:p>
        </p:txBody>
      </p:sp>
      <p:sp>
        <p:nvSpPr>
          <p:cNvPr id="6" name="Text 3"/>
          <p:cNvSpPr/>
          <p:nvPr/>
        </p:nvSpPr>
        <p:spPr>
          <a:xfrm>
            <a:off x="873798" y="2708176"/>
            <a:ext cx="4877472" cy="425450"/>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Demand is modelled at the product, channel, and region level with strong real-world accuracy, including known stock-out days.</a:t>
            </a:r>
            <a:endParaRPr lang="en-US" sz="11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1908" y="3418483"/>
            <a:ext cx="5285052" cy="1117203"/>
          </a:xfrm>
          <a:prstGeom prst="rect">
            <a:avLst/>
          </a:prstGeom>
        </p:spPr>
      </p:pic>
      <p:sp>
        <p:nvSpPr>
          <p:cNvPr id="8" name="Text 4"/>
          <p:cNvSpPr/>
          <p:nvPr/>
        </p:nvSpPr>
        <p:spPr>
          <a:xfrm>
            <a:off x="873798" y="3584178"/>
            <a:ext cx="4877472" cy="24120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A clear, real-time picture of stock health</a:t>
            </a:r>
            <a:endParaRPr lang="en-US" sz="1500" dirty="0"/>
          </a:p>
        </p:txBody>
      </p:sp>
      <p:sp>
        <p:nvSpPr>
          <p:cNvPr id="9" name="Text 5"/>
          <p:cNvSpPr/>
          <p:nvPr/>
        </p:nvSpPr>
        <p:spPr>
          <a:xfrm>
            <a:off x="873798" y="3944541"/>
            <a:ext cx="4877472" cy="425450"/>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Every SKU is automatically classified into one of four actionable categories, no manual guesswork required.</a:t>
            </a:r>
            <a:endParaRPr lang="en-US" sz="11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08" y="4654848"/>
            <a:ext cx="5285052" cy="1358404"/>
          </a:xfrm>
          <a:prstGeom prst="rect">
            <a:avLst/>
          </a:prstGeom>
        </p:spPr>
      </p:pic>
      <p:sp>
        <p:nvSpPr>
          <p:cNvPr id="11" name="Text 6"/>
          <p:cNvSpPr/>
          <p:nvPr/>
        </p:nvSpPr>
        <p:spPr>
          <a:xfrm>
            <a:off x="873798" y="4820543"/>
            <a:ext cx="4877472" cy="482402"/>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A specific, evidence-backed place to focus first</a:t>
            </a:r>
            <a:endParaRPr lang="en-US" sz="1500" dirty="0"/>
          </a:p>
        </p:txBody>
      </p:sp>
      <p:sp>
        <p:nvSpPr>
          <p:cNvPr id="12" name="Text 7"/>
          <p:cNvSpPr/>
          <p:nvPr/>
        </p:nvSpPr>
        <p:spPr>
          <a:xfrm>
            <a:off x="873798" y="5422106"/>
            <a:ext cx="4877472" cy="425450"/>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Ready Meals and Juice are identified with data, not instinct, as your highest-priority lines to act on.</a:t>
            </a:r>
            <a:endParaRPr lang="en-US" sz="11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81084" y="2182118"/>
            <a:ext cx="5285052" cy="1117203"/>
          </a:xfrm>
          <a:prstGeom prst="rect">
            <a:avLst/>
          </a:prstGeom>
        </p:spPr>
      </p:pic>
      <p:sp>
        <p:nvSpPr>
          <p:cNvPr id="14" name="Text 8"/>
          <p:cNvSpPr/>
          <p:nvPr/>
        </p:nvSpPr>
        <p:spPr>
          <a:xfrm>
            <a:off x="6522974" y="2347813"/>
            <a:ext cx="4877472" cy="24120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Cannot yet warn several days ahead</a:t>
            </a:r>
            <a:endParaRPr lang="en-US" sz="1500" dirty="0"/>
          </a:p>
        </p:txBody>
      </p:sp>
      <p:sp>
        <p:nvSpPr>
          <p:cNvPr id="15" name="Text 9"/>
          <p:cNvSpPr/>
          <p:nvPr/>
        </p:nvSpPr>
        <p:spPr>
          <a:xfrm>
            <a:off x="6522974" y="2708176"/>
            <a:ext cx="4877472" cy="425450"/>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Early-warning stockout alerts are a natural next development but are not part of this MVP version.</a:t>
            </a:r>
            <a:endParaRPr lang="en-US" sz="11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81084" y="3418483"/>
            <a:ext cx="5285052" cy="1358404"/>
          </a:xfrm>
          <a:prstGeom prst="rect">
            <a:avLst/>
          </a:prstGeom>
        </p:spPr>
      </p:pic>
      <p:sp>
        <p:nvSpPr>
          <p:cNvPr id="17" name="Text 10"/>
          <p:cNvSpPr/>
          <p:nvPr/>
        </p:nvSpPr>
        <p:spPr>
          <a:xfrm>
            <a:off x="6522974" y="3584178"/>
            <a:ext cx="4877472" cy="482402"/>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Cannot account for unusually large promotions</a:t>
            </a:r>
            <a:endParaRPr lang="en-US" sz="1500" dirty="0"/>
          </a:p>
        </p:txBody>
      </p:sp>
      <p:sp>
        <p:nvSpPr>
          <p:cNvPr id="18" name="Text 11"/>
          <p:cNvSpPr/>
          <p:nvPr/>
        </p:nvSpPr>
        <p:spPr>
          <a:xfrm>
            <a:off x="6522974" y="4185741"/>
            <a:ext cx="4877472" cy="425450"/>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The model handles typical promotions well, but extreme uplift events can still exceed its predictions.</a:t>
            </a:r>
            <a:endParaRPr lang="en-US" sz="115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81084" y="4896048"/>
            <a:ext cx="5285052" cy="1329928"/>
          </a:xfrm>
          <a:prstGeom prst="rect">
            <a:avLst/>
          </a:prstGeom>
        </p:spPr>
      </p:pic>
      <p:sp>
        <p:nvSpPr>
          <p:cNvPr id="20" name="Text 12"/>
          <p:cNvSpPr/>
          <p:nvPr/>
        </p:nvSpPr>
        <p:spPr>
          <a:xfrm>
            <a:off x="6522974" y="5061744"/>
            <a:ext cx="4877472" cy="241201"/>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Twemoji Mozilla" pitchFamily="34" charset="0"/>
                <a:ea typeface="Twemoji Mozilla" pitchFamily="34" charset="-122"/>
                <a:cs typeface="Twemoji Mozilla" pitchFamily="34" charset="-120"/>
              </a:rPr>
              <a:t>⚠️</a:t>
            </a:r>
            <a:r>
              <a:rPr lang="en-US" sz="1500" dirty="0">
                <a:solidFill>
                  <a:srgbClr val="3B3535"/>
                </a:solidFill>
                <a:latin typeface="Sora SemiBold" pitchFamily="34" charset="0"/>
                <a:ea typeface="Sora SemiBold" pitchFamily="34" charset="-122"/>
                <a:cs typeface="Sora SemiBold" pitchFamily="34" charset="-120"/>
              </a:rPr>
              <a:t> Requires retesting on new business data</a:t>
            </a:r>
            <a:endParaRPr lang="en-US" sz="1500" dirty="0"/>
          </a:p>
        </p:txBody>
      </p:sp>
      <p:sp>
        <p:nvSpPr>
          <p:cNvPr id="21" name="Text 13"/>
          <p:cNvSpPr/>
          <p:nvPr/>
        </p:nvSpPr>
        <p:spPr>
          <a:xfrm>
            <a:off x="6522974" y="5422106"/>
            <a:ext cx="4877472" cy="638175"/>
          </a:xfrm>
          <a:prstGeom prst="rect">
            <a:avLst/>
          </a:prstGeom>
          <a:noFill/>
          <a:ln/>
        </p:spPr>
        <p:txBody>
          <a:bodyPr wrap="square" lIns="0" tIns="0" rIns="0" bIns="0" rtlCol="0" anchor="t">
            <a:normAutofit/>
          </a:bodyPr>
          <a:lstStyle/>
          <a:p>
            <a:pPr marL="0" indent="0" algn="l">
              <a:lnSpc>
                <a:spcPct val="121000"/>
              </a:lnSpc>
              <a:buNone/>
            </a:pPr>
            <a:r>
              <a:rPr lang="en-US" sz="1150" dirty="0">
                <a:solidFill>
                  <a:srgbClr val="3B3535"/>
                </a:solidFill>
                <a:latin typeface="Sora Light" pitchFamily="34" charset="0"/>
                <a:ea typeface="Sora Light" pitchFamily="34" charset="-122"/>
                <a:cs typeface="Sora Light" pitchFamily="34" charset="-120"/>
              </a:rPr>
              <a:t>These exact numbers reflect the test dataset. Performance on a different real business should always be validated before relying on the figures.</a:t>
            </a:r>
            <a:endParaRPr lang="en-US" sz="1150" dirty="0"/>
          </a:p>
        </p:txBody>
      </p:sp>
      <p:sp>
        <p:nvSpPr>
          <p:cNvPr id="23" name="Rectangle: Rounded Corners 22">
            <a:extLst>
              <a:ext uri="{FF2B5EF4-FFF2-40B4-BE49-F238E27FC236}">
                <a16:creationId xmlns:a16="http://schemas.microsoft.com/office/drawing/2014/main" id="{E7995AE2-CB5D-EFA0-6843-30B38EA551E8}"/>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908" y="544016"/>
            <a:ext cx="10927878" cy="538262"/>
          </a:xfrm>
          <a:prstGeom prst="rect">
            <a:avLst/>
          </a:prstGeom>
          <a:noFill/>
          <a:ln/>
        </p:spPr>
        <p:txBody>
          <a:bodyPr wrap="none" lIns="0" tIns="0" rIns="0" bIns="0" rtlCol="0" anchor="t"/>
          <a:lstStyle/>
          <a:p>
            <a:pPr marL="0" indent="0" algn="l">
              <a:lnSpc>
                <a:spcPct val="104000"/>
              </a:lnSpc>
              <a:buNone/>
            </a:pPr>
            <a:r>
              <a:rPr lang="en-US" sz="3350" dirty="0">
                <a:solidFill>
                  <a:srgbClr val="1F1E1E"/>
                </a:solidFill>
                <a:latin typeface="Sora SemiBold" pitchFamily="34" charset="0"/>
                <a:ea typeface="Sora SemiBold" pitchFamily="34" charset="-122"/>
                <a:cs typeface="Sora SemiBold" pitchFamily="34" charset="-120"/>
              </a:rPr>
              <a:t>What This Could Mean for Your Business</a:t>
            </a:r>
            <a:endParaRPr lang="en-US" sz="3350" dirty="0"/>
          </a:p>
        </p:txBody>
      </p:sp>
      <p:sp>
        <p:nvSpPr>
          <p:cNvPr id="3" name="Text 1"/>
          <p:cNvSpPr/>
          <p:nvPr/>
        </p:nvSpPr>
        <p:spPr>
          <a:xfrm>
            <a:off x="631908" y="1452860"/>
            <a:ext cx="5264415" cy="269081"/>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Sora SemiBold" pitchFamily="34" charset="0"/>
                <a:ea typeface="Sora SemiBold" pitchFamily="34" charset="-122"/>
                <a:cs typeface="Sora SemiBold" pitchFamily="34" charset="-120"/>
              </a:rPr>
              <a:t>The Investment So Far</a:t>
            </a:r>
            <a:endParaRPr lang="en-US" sz="1650" dirty="0"/>
          </a:p>
        </p:txBody>
      </p:sp>
      <p:sp>
        <p:nvSpPr>
          <p:cNvPr id="4" name="Text 2"/>
          <p:cNvSpPr/>
          <p:nvPr/>
        </p:nvSpPr>
        <p:spPr>
          <a:xfrm>
            <a:off x="631908" y="1870174"/>
            <a:ext cx="5264415" cy="498872"/>
          </a:xfrm>
          <a:prstGeom prst="rect">
            <a:avLst/>
          </a:prstGeom>
          <a:noFill/>
          <a:ln/>
        </p:spPr>
        <p:txBody>
          <a:bodyPr wrap="square" lIns="0" tIns="0" rIns="0" bIns="0" rtlCol="0" anchor="t">
            <a:normAutofit/>
          </a:bodyPr>
          <a:lstStyle/>
          <a:p>
            <a:pPr marL="0" indent="0" algn="l">
              <a:lnSpc>
                <a:spcPct val="127000"/>
              </a:lnSpc>
              <a:buNone/>
            </a:pPr>
            <a:r>
              <a:rPr lang="en-US" sz="1250" dirty="0">
                <a:solidFill>
                  <a:srgbClr val="3B3535"/>
                </a:solidFill>
                <a:latin typeface="Sora Light" pitchFamily="34" charset="0"/>
                <a:ea typeface="Sora Light" pitchFamily="34" charset="-122"/>
                <a:cs typeface="Sora Light" pitchFamily="34" charset="-120"/>
              </a:rPr>
              <a:t>This MVP was built as a lean, focused first version with minimal development cost</a:t>
            </a:r>
            <a:endParaRPr lang="en-US" sz="1250" dirty="0"/>
          </a:p>
        </p:txBody>
      </p:sp>
      <p:sp>
        <p:nvSpPr>
          <p:cNvPr id="5" name="Shape 3"/>
          <p:cNvSpPr/>
          <p:nvPr/>
        </p:nvSpPr>
        <p:spPr>
          <a:xfrm>
            <a:off x="631908" y="2576711"/>
            <a:ext cx="5264415" cy="19050"/>
          </a:xfrm>
          <a:prstGeom prst="roundRect">
            <a:avLst>
              <a:gd name="adj" fmla="val 49999"/>
            </a:avLst>
          </a:prstGeom>
          <a:solidFill>
            <a:srgbClr val="3B3535">
              <a:alpha val="50000"/>
            </a:srgbClr>
          </a:solidFill>
          <a:ln/>
        </p:spPr>
        <p:txBody>
          <a:bodyPr/>
          <a:lstStyle/>
          <a:p>
            <a:endParaRPr lang="en-US"/>
          </a:p>
        </p:txBody>
      </p:sp>
      <p:sp>
        <p:nvSpPr>
          <p:cNvPr id="6" name="Text 4"/>
          <p:cNvSpPr/>
          <p:nvPr/>
        </p:nvSpPr>
        <p:spPr>
          <a:xfrm>
            <a:off x="631908" y="2803426"/>
            <a:ext cx="5264415" cy="269081"/>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Sora SemiBold" pitchFamily="34" charset="0"/>
                <a:ea typeface="Sora SemiBold" pitchFamily="34" charset="-122"/>
                <a:cs typeface="Sora SemiBold" pitchFamily="34" charset="-120"/>
              </a:rPr>
              <a:t>Recommended Next Step</a:t>
            </a:r>
            <a:endParaRPr lang="en-US" sz="1650" dirty="0"/>
          </a:p>
        </p:txBody>
      </p:sp>
      <p:sp>
        <p:nvSpPr>
          <p:cNvPr id="7" name="Text 5"/>
          <p:cNvSpPr/>
          <p:nvPr/>
        </p:nvSpPr>
        <p:spPr>
          <a:xfrm>
            <a:off x="631908" y="3220740"/>
            <a:ext cx="5264415" cy="997744"/>
          </a:xfrm>
          <a:prstGeom prst="rect">
            <a:avLst/>
          </a:prstGeom>
          <a:noFill/>
          <a:ln/>
        </p:spPr>
        <p:txBody>
          <a:bodyPr wrap="square" lIns="0" tIns="0" rIns="0" bIns="0" rtlCol="0" anchor="t">
            <a:normAutofit/>
          </a:bodyPr>
          <a:lstStyle/>
          <a:p>
            <a:pPr marL="0" indent="0" algn="l">
              <a:lnSpc>
                <a:spcPct val="127000"/>
              </a:lnSpc>
              <a:buNone/>
            </a:pPr>
            <a:r>
              <a:rPr lang="en-US" sz="1250" dirty="0">
                <a:solidFill>
                  <a:srgbClr val="3B3535"/>
                </a:solidFill>
                <a:latin typeface="Sora Light" pitchFamily="34" charset="0"/>
                <a:ea typeface="Sora Light" pitchFamily="34" charset="-122"/>
                <a:cs typeface="Sora Light" pitchFamily="34" charset="-120"/>
              </a:rPr>
              <a:t>Pilot this system on your </a:t>
            </a:r>
            <a:r>
              <a:rPr lang="en-US" sz="1250" b="1" dirty="0">
                <a:solidFill>
                  <a:srgbClr val="DA1B2E"/>
                </a:solidFill>
                <a:latin typeface="Sora Bold" pitchFamily="34" charset="0"/>
                <a:ea typeface="Sora Bold" pitchFamily="34" charset="-122"/>
                <a:cs typeface="Sora Bold" pitchFamily="34" charset="-120"/>
              </a:rPr>
              <a:t>Ready Meal</a:t>
            </a:r>
            <a:r>
              <a:rPr lang="en-US" sz="1250" dirty="0">
                <a:solidFill>
                  <a:srgbClr val="3B3535"/>
                </a:solidFill>
                <a:latin typeface="Sora Light" pitchFamily="34" charset="0"/>
                <a:ea typeface="Sora Light" pitchFamily="34" charset="-122"/>
                <a:cs typeface="Sora Light" pitchFamily="34" charset="-120"/>
              </a:rPr>
              <a:t> and </a:t>
            </a:r>
            <a:r>
              <a:rPr lang="en-US" sz="1250" b="1" dirty="0">
                <a:solidFill>
                  <a:srgbClr val="DA1B2E"/>
                </a:solidFill>
                <a:latin typeface="Sora Bold" pitchFamily="34" charset="0"/>
                <a:ea typeface="Sora Bold" pitchFamily="34" charset="-122"/>
                <a:cs typeface="Sora Bold" pitchFamily="34" charset="-120"/>
              </a:rPr>
              <a:t>Juice</a:t>
            </a:r>
            <a:r>
              <a:rPr lang="en-US" sz="1250" dirty="0">
                <a:solidFill>
                  <a:srgbClr val="3B3535"/>
                </a:solidFill>
                <a:latin typeface="Sora Light" pitchFamily="34" charset="0"/>
                <a:ea typeface="Sora Light" pitchFamily="34" charset="-122"/>
                <a:cs typeface="Sora Light" pitchFamily="34" charset="-120"/>
              </a:rPr>
              <a:t> lines first,  that is where the evidence points to the clearest, fastest win. Then expand to the full catalogue once validated against your real numbers.</a:t>
            </a:r>
            <a:endParaRPr lang="en-US" sz="1250" dirty="0"/>
          </a:p>
        </p:txBody>
      </p:sp>
      <p:sp>
        <p:nvSpPr>
          <p:cNvPr id="8" name="Shape 6"/>
          <p:cNvSpPr/>
          <p:nvPr/>
        </p:nvSpPr>
        <p:spPr>
          <a:xfrm>
            <a:off x="631908" y="4385270"/>
            <a:ext cx="5264415" cy="1346398"/>
          </a:xfrm>
          <a:prstGeom prst="roundRect">
            <a:avLst>
              <a:gd name="adj" fmla="val 5104"/>
            </a:avLst>
          </a:prstGeom>
          <a:solidFill>
            <a:srgbClr val="FCF2B5"/>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795516" y="4609009"/>
            <a:ext cx="204485" cy="163612"/>
          </a:xfrm>
          <a:prstGeom prst="rect">
            <a:avLst/>
          </a:prstGeom>
        </p:spPr>
      </p:pic>
      <p:sp>
        <p:nvSpPr>
          <p:cNvPr id="10" name="Text 7"/>
          <p:cNvSpPr/>
          <p:nvPr/>
        </p:nvSpPr>
        <p:spPr>
          <a:xfrm>
            <a:off x="1163608" y="4559598"/>
            <a:ext cx="4569108" cy="997744"/>
          </a:xfrm>
          <a:prstGeom prst="rect">
            <a:avLst/>
          </a:prstGeom>
          <a:noFill/>
          <a:ln/>
        </p:spPr>
        <p:txBody>
          <a:bodyPr wrap="square" lIns="0" tIns="0" rIns="0" bIns="0" rtlCol="0" anchor="t">
            <a:normAutofit/>
          </a:bodyPr>
          <a:lstStyle/>
          <a:p>
            <a:pPr marL="0" indent="0" algn="l">
              <a:lnSpc>
                <a:spcPct val="127000"/>
              </a:lnSpc>
              <a:buNone/>
            </a:pPr>
            <a:r>
              <a:rPr lang="en-US" sz="1250" b="1" dirty="0">
                <a:solidFill>
                  <a:srgbClr val="000000"/>
                </a:solidFill>
                <a:latin typeface="Sora Bold" pitchFamily="34" charset="0"/>
                <a:ea typeface="Sora Bold" pitchFamily="34" charset="-122"/>
                <a:cs typeface="Sora Bold" pitchFamily="34" charset="-120"/>
              </a:rPr>
              <a:t>Note for Mr Joseph:</a:t>
            </a:r>
            <a:r>
              <a:rPr lang="en-US" sz="1250" dirty="0">
                <a:solidFill>
                  <a:srgbClr val="000000"/>
                </a:solidFill>
                <a:latin typeface="Sora Light" pitchFamily="34" charset="0"/>
                <a:ea typeface="Sora Light" pitchFamily="34" charset="-122"/>
                <a:cs typeface="Sora Light" pitchFamily="34" charset="-120"/>
              </a:rPr>
              <a:t> The bracketed figures below are placeholders. Do not substitute estimated or fabricated numbers,  leave them as-is until your real figures are supplied.</a:t>
            </a:r>
            <a:endParaRPr lang="en-US" sz="1250" dirty="0"/>
          </a:p>
        </p:txBody>
      </p:sp>
      <p:sp>
        <p:nvSpPr>
          <p:cNvPr id="11" name="Shape 8"/>
          <p:cNvSpPr/>
          <p:nvPr/>
        </p:nvSpPr>
        <p:spPr>
          <a:xfrm>
            <a:off x="6183952" y="1304627"/>
            <a:ext cx="5499955" cy="5009356"/>
          </a:xfrm>
          <a:prstGeom prst="roundRect">
            <a:avLst>
              <a:gd name="adj" fmla="val 2352"/>
            </a:avLst>
          </a:prstGeom>
          <a:solidFill>
            <a:srgbClr val="F9D2D6"/>
          </a:solidFill>
          <a:ln/>
        </p:spPr>
        <p:txBody>
          <a:bodyPr/>
          <a:lstStyle/>
          <a:p>
            <a:endParaRPr lang="en-US"/>
          </a:p>
        </p:txBody>
      </p:sp>
      <p:sp>
        <p:nvSpPr>
          <p:cNvPr id="12" name="Text 9"/>
          <p:cNvSpPr/>
          <p:nvPr/>
        </p:nvSpPr>
        <p:spPr>
          <a:xfrm>
            <a:off x="6347559" y="1452860"/>
            <a:ext cx="5172739" cy="269081"/>
          </a:xfrm>
          <a:prstGeom prst="rect">
            <a:avLst/>
          </a:prstGeom>
          <a:noFill/>
          <a:ln/>
        </p:spPr>
        <p:txBody>
          <a:bodyPr wrap="none" lIns="0" tIns="0" rIns="0" bIns="0" rtlCol="0" anchor="t"/>
          <a:lstStyle/>
          <a:p>
            <a:pPr marL="0" indent="0" algn="l">
              <a:lnSpc>
                <a:spcPct val="104000"/>
              </a:lnSpc>
              <a:buNone/>
            </a:pPr>
            <a:r>
              <a:rPr lang="en-US" sz="1650" dirty="0">
                <a:solidFill>
                  <a:srgbClr val="1F1E1E"/>
                </a:solidFill>
                <a:latin typeface="Sora SemiBold" pitchFamily="34" charset="0"/>
                <a:ea typeface="Sora SemiBold" pitchFamily="34" charset="-122"/>
                <a:cs typeface="Sora SemiBold" pitchFamily="34" charset="-120"/>
              </a:rPr>
              <a:t>The Potential Impact</a:t>
            </a:r>
            <a:endParaRPr lang="en-US" sz="1650" dirty="0"/>
          </a:p>
        </p:txBody>
      </p:sp>
      <p:sp>
        <p:nvSpPr>
          <p:cNvPr id="13" name="Text 10"/>
          <p:cNvSpPr/>
          <p:nvPr/>
        </p:nvSpPr>
        <p:spPr>
          <a:xfrm>
            <a:off x="6863881" y="1944886"/>
            <a:ext cx="4656418" cy="269081"/>
          </a:xfrm>
          <a:prstGeom prst="rect">
            <a:avLst/>
          </a:prstGeom>
          <a:noFill/>
          <a:ln/>
        </p:spPr>
        <p:txBody>
          <a:bodyPr wrap="none" lIns="0" tIns="0" rIns="0" bIns="0" rtlCol="0" anchor="t"/>
          <a:lstStyle/>
          <a:p>
            <a:pPr marL="0" indent="0" algn="l">
              <a:lnSpc>
                <a:spcPct val="104000"/>
              </a:lnSpc>
              <a:buNone/>
            </a:pPr>
            <a:r>
              <a:rPr lang="en-US" sz="1650" dirty="0">
                <a:solidFill>
                  <a:srgbClr val="3B3535"/>
                </a:solidFill>
                <a:latin typeface="Sora SemiBold" pitchFamily="34" charset="0"/>
                <a:ea typeface="Sora SemiBold" pitchFamily="34" charset="-122"/>
                <a:cs typeface="Sora SemiBold" pitchFamily="34" charset="-120"/>
              </a:rPr>
              <a:t>Recover missed Ready Meal sales</a:t>
            </a:r>
            <a:endParaRPr lang="en-US" sz="1650" dirty="0"/>
          </a:p>
        </p:txBody>
      </p:sp>
      <p:sp>
        <p:nvSpPr>
          <p:cNvPr id="14" name="Text 11"/>
          <p:cNvSpPr/>
          <p:nvPr/>
        </p:nvSpPr>
        <p:spPr>
          <a:xfrm>
            <a:off x="6863881" y="2362200"/>
            <a:ext cx="4656418" cy="997744"/>
          </a:xfrm>
          <a:prstGeom prst="rect">
            <a:avLst/>
          </a:prstGeom>
          <a:noFill/>
          <a:ln/>
        </p:spPr>
        <p:txBody>
          <a:bodyPr wrap="square" lIns="0" tIns="0" rIns="0" bIns="0" rtlCol="0" anchor="t">
            <a:normAutofit/>
          </a:bodyPr>
          <a:lstStyle/>
          <a:p>
            <a:pPr marL="0" indent="0" algn="l">
              <a:lnSpc>
                <a:spcPct val="127000"/>
              </a:lnSpc>
              <a:buNone/>
            </a:pPr>
            <a:r>
              <a:rPr lang="en-US" sz="1400" dirty="0">
                <a:solidFill>
                  <a:srgbClr val="3B3535"/>
                </a:solidFill>
                <a:latin typeface="Sora Light" pitchFamily="34" charset="0"/>
                <a:ea typeface="Sora Light" pitchFamily="34" charset="-122"/>
                <a:cs typeface="Sora Light" pitchFamily="34" charset="-120"/>
              </a:rPr>
              <a:t>Reducing stockouts on your Ready Meal line could recover an estimated </a:t>
            </a:r>
            <a:r>
              <a:rPr lang="en-US" sz="1400" b="1" dirty="0">
                <a:solidFill>
                  <a:srgbClr val="3B3535"/>
                </a:solidFill>
                <a:latin typeface="Sora Light" pitchFamily="34" charset="0"/>
                <a:ea typeface="Sora Light" pitchFamily="34" charset="-122"/>
                <a:cs typeface="Sora Light" pitchFamily="34" charset="-120"/>
              </a:rPr>
              <a:t>$2,239 </a:t>
            </a:r>
            <a:r>
              <a:rPr lang="en-US" sz="1400" dirty="0">
                <a:solidFill>
                  <a:srgbClr val="3B3535"/>
                </a:solidFill>
                <a:latin typeface="Sora Light" pitchFamily="34" charset="0"/>
                <a:ea typeface="Sora Light" pitchFamily="34" charset="-122"/>
                <a:cs typeface="Sora Light" pitchFamily="34" charset="-120"/>
              </a:rPr>
              <a:t>in currently missed revenue.</a:t>
            </a:r>
            <a:endParaRPr lang="en-US" sz="1400" dirty="0"/>
          </a:p>
        </p:txBody>
      </p:sp>
      <p:sp>
        <p:nvSpPr>
          <p:cNvPr id="15" name="Text 12"/>
          <p:cNvSpPr/>
          <p:nvPr/>
        </p:nvSpPr>
        <p:spPr>
          <a:xfrm>
            <a:off x="6863880" y="3281511"/>
            <a:ext cx="4656418" cy="269081"/>
          </a:xfrm>
          <a:prstGeom prst="rect">
            <a:avLst/>
          </a:prstGeom>
          <a:noFill/>
          <a:ln/>
        </p:spPr>
        <p:txBody>
          <a:bodyPr wrap="none" lIns="0" tIns="0" rIns="0" bIns="0" rtlCol="0" anchor="t"/>
          <a:lstStyle/>
          <a:p>
            <a:pPr marL="0" indent="0" algn="l">
              <a:lnSpc>
                <a:spcPct val="104000"/>
              </a:lnSpc>
              <a:buNone/>
            </a:pPr>
            <a:r>
              <a:rPr lang="en-US" sz="1650" dirty="0">
                <a:solidFill>
                  <a:srgbClr val="3B3535"/>
                </a:solidFill>
                <a:latin typeface="Sora SemiBold" pitchFamily="34" charset="0"/>
                <a:ea typeface="Sora SemiBold" pitchFamily="34" charset="-122"/>
                <a:cs typeface="Sora SemiBold" pitchFamily="34" charset="-120"/>
              </a:rPr>
              <a:t>Free up Juice working capital</a:t>
            </a:r>
            <a:endParaRPr lang="en-US" sz="1650" dirty="0"/>
          </a:p>
        </p:txBody>
      </p:sp>
      <p:sp>
        <p:nvSpPr>
          <p:cNvPr id="16" name="Text 13"/>
          <p:cNvSpPr/>
          <p:nvPr/>
        </p:nvSpPr>
        <p:spPr>
          <a:xfrm>
            <a:off x="6863880" y="3541191"/>
            <a:ext cx="4656418" cy="748308"/>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3B3535"/>
                </a:solidFill>
                <a:latin typeface="Sora Light" pitchFamily="34" charset="0"/>
                <a:ea typeface="Sora Light" pitchFamily="34" charset="-122"/>
                <a:cs typeface="Sora Light" pitchFamily="34" charset="-120"/>
              </a:rPr>
              <a:t>Trimming excess Juice inventory could release approximately </a:t>
            </a:r>
            <a:r>
              <a:rPr lang="en-US" sz="1400" b="1" dirty="0">
                <a:solidFill>
                  <a:srgbClr val="3B3535"/>
                </a:solidFill>
                <a:latin typeface="Sora Bold" pitchFamily="34" charset="0"/>
                <a:ea typeface="Sora Bold" pitchFamily="34" charset="-122"/>
                <a:cs typeface="Sora Light" pitchFamily="34" charset="-120"/>
              </a:rPr>
              <a:t>$128 </a:t>
            </a:r>
            <a:r>
              <a:rPr lang="en-US" sz="1400" dirty="0">
                <a:solidFill>
                  <a:srgbClr val="3B3535"/>
                </a:solidFill>
                <a:latin typeface="Sora Light" pitchFamily="34" charset="0"/>
                <a:ea typeface="Sora Light" pitchFamily="34" charset="-122"/>
                <a:cs typeface="Sora Light" pitchFamily="34" charset="-120"/>
              </a:rPr>
              <a:t>back into the business.</a:t>
            </a:r>
            <a:endParaRPr lang="en-US" sz="1400" dirty="0"/>
          </a:p>
        </p:txBody>
      </p:sp>
      <p:sp>
        <p:nvSpPr>
          <p:cNvPr id="17" name="Text 14"/>
          <p:cNvSpPr/>
          <p:nvPr/>
        </p:nvSpPr>
        <p:spPr>
          <a:xfrm>
            <a:off x="6576251" y="4195837"/>
            <a:ext cx="4656418" cy="269081"/>
          </a:xfrm>
          <a:prstGeom prst="rect">
            <a:avLst/>
          </a:prstGeom>
          <a:noFill/>
          <a:ln/>
        </p:spPr>
        <p:txBody>
          <a:bodyPr wrap="none" lIns="0" tIns="0" rIns="0" bIns="0" rtlCol="0" anchor="t"/>
          <a:lstStyle/>
          <a:p>
            <a:pPr marL="0" indent="0" algn="l">
              <a:lnSpc>
                <a:spcPct val="104000"/>
              </a:lnSpc>
              <a:buNone/>
            </a:pPr>
            <a:r>
              <a:rPr lang="en-US" sz="1650" dirty="0">
                <a:solidFill>
                  <a:srgbClr val="3B3535"/>
                </a:solidFill>
                <a:latin typeface="Sora SemiBold" pitchFamily="34" charset="0"/>
                <a:ea typeface="Sora SemiBold" pitchFamily="34" charset="-122"/>
                <a:cs typeface="Sora SemiBold" pitchFamily="34" charset="-120"/>
              </a:rPr>
              <a:t>~60% improvement in forecast accuracy</a:t>
            </a:r>
            <a:endParaRPr lang="en-US" sz="1650" dirty="0"/>
          </a:p>
        </p:txBody>
      </p:sp>
      <p:sp>
        <p:nvSpPr>
          <p:cNvPr id="18" name="Text 15"/>
          <p:cNvSpPr/>
          <p:nvPr/>
        </p:nvSpPr>
        <p:spPr>
          <a:xfrm>
            <a:off x="6562824" y="4532356"/>
            <a:ext cx="4656418" cy="498872"/>
          </a:xfrm>
          <a:prstGeom prst="rect">
            <a:avLst/>
          </a:prstGeom>
          <a:noFill/>
          <a:ln/>
        </p:spPr>
        <p:txBody>
          <a:bodyPr wrap="square" lIns="0" tIns="0" rIns="0" bIns="0" rtlCol="0" anchor="t">
            <a:noAutofit/>
          </a:bodyPr>
          <a:lstStyle/>
          <a:p>
            <a:pPr marL="0" indent="0" algn="l">
              <a:lnSpc>
                <a:spcPct val="127000"/>
              </a:lnSpc>
              <a:buNone/>
            </a:pPr>
            <a:r>
              <a:rPr lang="en-US" sz="1400" dirty="0">
                <a:solidFill>
                  <a:srgbClr val="3B3535"/>
                </a:solidFill>
                <a:latin typeface="Sora Light" pitchFamily="34" charset="0"/>
                <a:ea typeface="Sora Light" pitchFamily="34" charset="-122"/>
                <a:cs typeface="Sora Light" pitchFamily="34" charset="-120"/>
              </a:rPr>
              <a:t>Fewer emergency reorders, less guesswork, and smarter purchasing decisions across your entire catalogue.</a:t>
            </a:r>
            <a:endParaRPr lang="en-US" sz="1400" dirty="0"/>
          </a:p>
        </p:txBody>
      </p:sp>
      <p:sp>
        <p:nvSpPr>
          <p:cNvPr id="20" name="Rectangle: Rounded Corners 19">
            <a:extLst>
              <a:ext uri="{FF2B5EF4-FFF2-40B4-BE49-F238E27FC236}">
                <a16:creationId xmlns:a16="http://schemas.microsoft.com/office/drawing/2014/main" id="{3244C0F2-892E-9CD6-373C-3FE53C989025}"/>
              </a:ext>
            </a:extLst>
          </p:cNvPr>
          <p:cNvSpPr/>
          <p:nvPr/>
        </p:nvSpPr>
        <p:spPr>
          <a:xfrm>
            <a:off x="11097928" y="6554804"/>
            <a:ext cx="1071443" cy="231080"/>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TotalTime>
  <Words>1805</Words>
  <Application>Microsoft Office PowerPoint</Application>
  <PresentationFormat>Widescreen</PresentationFormat>
  <Paragraphs>160</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Twemoji Mozilla</vt:lpstr>
      <vt:lpstr>Sora SemiBold</vt:lpstr>
      <vt:lpstr>Sora Bold</vt:lpstr>
      <vt:lpstr>Sora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DYDX Digital Solutions</dc:creator>
  <cp:lastModifiedBy>DYDX Digital Solutions</cp:lastModifiedBy>
  <cp:revision>2</cp:revision>
  <dcterms:created xsi:type="dcterms:W3CDTF">2026-08-20T10:41:41Z</dcterms:created>
  <dcterms:modified xsi:type="dcterms:W3CDTF">2026-08-20T18:19:01Z</dcterms:modified>
</cp:coreProperties>
</file>